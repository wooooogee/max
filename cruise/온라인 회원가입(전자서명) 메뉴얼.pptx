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notesMasterIdLst>
    <p:notesMasterId r:id="rId16"/>
  </p:notesMasterIdLst>
  <p:sldIdLst>
    <p:sldId id="256" r:id="rId4"/>
    <p:sldId id="257" r:id="rId5"/>
    <p:sldId id="374" r:id="rId6"/>
    <p:sldId id="2219" r:id="rId7"/>
    <p:sldId id="435" r:id="rId8"/>
    <p:sldId id="436" r:id="rId9"/>
    <p:sldId id="438" r:id="rId10"/>
    <p:sldId id="439" r:id="rId11"/>
    <p:sldId id="442" r:id="rId12"/>
    <p:sldId id="437" r:id="rId13"/>
    <p:sldId id="441" r:id="rId14"/>
    <p:sldId id="443" r:id="rId15"/>
  </p:sldIdLst>
  <p:sldSz cx="12192000" cy="6858000"/>
  <p:notesSz cx="6888163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CE2554C3-332B-461C-A3AF-9F75CF928F85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4"/>
            <a:ext cx="5510530" cy="3946118"/>
          </a:xfrm>
          <a:prstGeom prst="rect">
            <a:avLst/>
          </a:prstGeom>
        </p:spPr>
        <p:txBody>
          <a:bodyPr vert="horz" lIns="96625" tIns="48312" rIns="96625" bIns="48312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E7642BA3-2ACA-4259-B1DE-EE370C0F7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607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66246">
              <a:defRPr/>
            </a:pPr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66246">
              <a:defRPr/>
            </a:pPr>
            <a:fld id="{05A17D89-ED51-416A-A862-DE6D681F719E}" type="slidenum">
              <a:rPr lang="ko-KR" altLang="en-US" sz="19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66246">
                <a:defRPr/>
              </a:pPr>
              <a:t>3</a:t>
            </a:fld>
            <a:endParaRPr lang="ko-KR" altLang="en-US" sz="19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6624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6624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A17D89-ED51-416A-A862-DE6D681F719E}" type="slidenum">
              <a:rPr kumimoji="0" lang="ko-KR" altLang="en-US" sz="1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6624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320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66246">
              <a:defRPr/>
            </a:pPr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66246">
              <a:defRPr/>
            </a:pPr>
            <a:fld id="{05A17D89-ED51-416A-A862-DE6D681F719E}" type="slidenum">
              <a:rPr lang="ko-KR" altLang="en-US" sz="19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66246">
                <a:defRPr/>
              </a:pPr>
              <a:t>5</a:t>
            </a:fld>
            <a:endParaRPr lang="ko-KR" altLang="en-US" sz="19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13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66246">
              <a:defRPr/>
            </a:pPr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66246">
              <a:defRPr/>
            </a:pPr>
            <a:fld id="{05A17D89-ED51-416A-A862-DE6D681F719E}" type="slidenum">
              <a:rPr lang="ko-KR" altLang="en-US" sz="19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66246">
                <a:defRPr/>
              </a:pPr>
              <a:t>6</a:t>
            </a:fld>
            <a:endParaRPr lang="ko-KR" altLang="en-US" sz="19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3357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66246">
              <a:defRPr/>
            </a:pPr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66246">
              <a:defRPr/>
            </a:pPr>
            <a:fld id="{05A17D89-ED51-416A-A862-DE6D681F719E}" type="slidenum">
              <a:rPr lang="ko-KR" altLang="en-US" sz="19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66246">
                <a:defRPr/>
              </a:pPr>
              <a:t>7</a:t>
            </a:fld>
            <a:endParaRPr lang="ko-KR" altLang="en-US" sz="19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9021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66246">
              <a:defRPr/>
            </a:pPr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66246">
              <a:defRPr/>
            </a:pPr>
            <a:fld id="{05A17D89-ED51-416A-A862-DE6D681F719E}" type="slidenum">
              <a:rPr lang="ko-KR" altLang="en-US" sz="19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66246">
                <a:defRPr/>
              </a:pPr>
              <a:t>8</a:t>
            </a:fld>
            <a:endParaRPr lang="ko-KR" altLang="en-US" sz="19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7421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66246">
              <a:defRPr/>
            </a:pPr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66246">
              <a:defRPr/>
            </a:pPr>
            <a:fld id="{05A17D89-ED51-416A-A862-DE6D681F719E}" type="slidenum">
              <a:rPr lang="ko-KR" altLang="en-US" sz="19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66246">
                <a:defRPr/>
              </a:pPr>
              <a:t>9</a:t>
            </a:fld>
            <a:endParaRPr lang="ko-KR" altLang="en-US" sz="19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8992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66246">
              <a:defRPr/>
            </a:pPr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66246">
              <a:defRPr/>
            </a:pPr>
            <a:fld id="{05A17D89-ED51-416A-A862-DE6D681F719E}" type="slidenum">
              <a:rPr lang="ko-KR" altLang="en-US" sz="19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66246">
                <a:defRPr/>
              </a:pPr>
              <a:t>10</a:t>
            </a:fld>
            <a:endParaRPr lang="ko-KR" altLang="en-US" sz="19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5200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66246">
              <a:defRPr/>
            </a:pPr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66246">
              <a:defRPr/>
            </a:pPr>
            <a:fld id="{05A17D89-ED51-416A-A862-DE6D681F719E}" type="slidenum">
              <a:rPr lang="ko-KR" altLang="en-US" sz="19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66246">
                <a:defRPr/>
              </a:pPr>
              <a:t>11</a:t>
            </a:fld>
            <a:endParaRPr lang="ko-KR" altLang="en-US" sz="19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6110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B21DB-484A-CC3C-1D58-373783DD4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84D306-520E-E579-C9F4-EAF5BDF3A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6FD94-2165-62FC-6F0E-C57205EF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9932-9D58-40EE-8262-D52F662D2E6C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B62857-3D84-3449-DEBC-E97994CA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7EFF8D-BF23-F23B-D25C-02DDB1B9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B032-5D4D-40A2-B825-0544B5305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06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7366D-C1BD-CB81-9CC1-FD72777E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28D2D-8EF7-8D33-90C4-EFE6BA298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F1113-B218-97F9-3351-24F0DA07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9932-9D58-40EE-8262-D52F662D2E6C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FD0871-40CF-C897-0BC0-DD62A08F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A18FC3-F5A7-3A7E-DE01-FA6A3836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B032-5D4D-40A2-B825-0544B5305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663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74B34-6E78-7C56-CCC7-325DB0C2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453729-EB86-B87C-54AA-E3022F869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530F8-F660-F58B-DBA0-4EFB8A696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9932-9D58-40EE-8262-D52F662D2E6C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7562C1-BBD3-5E0A-7549-A443CDC21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15F9AD-D430-BEC3-3F64-A4D01B43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B032-5D4D-40A2-B825-0544B5305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35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7D192-C40A-2D47-484A-3452C831D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5E6B2-3DAA-FFBF-57E8-1D895FA37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2BCBA3-7F73-A7AC-2E97-AF17871C7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C15B98-4BF3-0361-DA08-99F9BC68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9932-9D58-40EE-8262-D52F662D2E6C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DE5060-4C09-80A8-773B-484D6F84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819E79-EAEE-3FC5-FE99-E724B4FA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B032-5D4D-40A2-B825-0544B5305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90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A704D-1C53-67E3-4C3F-23479447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1EE400-E6D5-0AC5-581D-E875F72A6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661E5A-8DC9-BE27-9627-13415A618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959D86-DF86-D4F7-6D18-1EA31C8E0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BF31D5-6803-3389-CA3B-208C242BE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CD5C40-42BF-D261-E79F-2737F934F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9932-9D58-40EE-8262-D52F662D2E6C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FE6806-6E38-E30A-0CDE-37A397AD3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F6C894-77ED-2FDE-166F-30BDFFFA4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B032-5D4D-40A2-B825-0544B5305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191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BFC92-3C9C-D6E4-8432-7235EDAD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A53256-CBDE-A506-A50B-92FBEBFC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9932-9D58-40EE-8262-D52F662D2E6C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D48CC1-3F9B-BF5F-2F96-5ED20052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07F41E-9288-56B0-8D52-97E65A5F2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B032-5D4D-40A2-B825-0544B5305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70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30EDD6-292A-7DD8-A77A-8BCBD12D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9932-9D58-40EE-8262-D52F662D2E6C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5B8960-9D96-59FE-80C7-584D8B7E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559CB-3483-0F15-E3AF-EB2C18B6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B032-5D4D-40A2-B825-0544B5305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25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B839E-A6D2-B6CD-3385-65A87F02F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D868D5-AC7C-E026-209D-B4F8E4F01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BCDC0B-3F68-58DC-34CB-1D09C679E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90C9EF-9DEA-F099-8B96-F77CB0B9D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9932-9D58-40EE-8262-D52F662D2E6C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843DEE-9132-A035-4A78-FA6DA79B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F35CF2-783C-287B-FFDD-F464B8DB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B032-5D4D-40A2-B825-0544B5305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11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59EC1-BD57-9E6C-C1EA-38F7F114D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22BF65-0D00-2CCF-40DC-5C50B18A8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ED64BC-3AB0-CFB8-7DAC-2C9D88880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2D77AA-F131-CB5B-596E-ECB0A9F5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9932-9D58-40EE-8262-D52F662D2E6C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E7039B-5D03-99D0-4E9A-CF744149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D98E56-ED7A-3CC5-FE40-F95480EA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B032-5D4D-40A2-B825-0544B5305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973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0F4CF2-38D4-14D9-AD93-4B8A04D5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F9BB93-6051-1D0F-1FBA-2FFB7715D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C370B9-B69D-F957-3278-624E5242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9932-9D58-40EE-8262-D52F662D2E6C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D328E9-6B96-C677-8B57-34535D2F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2D6A93-F7B1-52EF-F300-DB7CBCD0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B032-5D4D-40A2-B825-0544B5305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843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4CE26F-1433-6282-6492-057B72699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350D3F-E5F1-7C01-F213-8FBA12FBB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D8C1AF-E193-A052-D01C-3CE52F1C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9932-9D58-40EE-8262-D52F662D2E6C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E5CFCD-9007-219A-701D-615627BF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410890-FB36-A1D2-73AC-B9757115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B032-5D4D-40A2-B825-0544B5305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31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0655-4374-4231-834B-933FE8D93FAF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468884" y="6568615"/>
            <a:ext cx="2844800" cy="365125"/>
          </a:xfrm>
        </p:spPr>
        <p:txBody>
          <a:bodyPr/>
          <a:lstStyle/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082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0602-6BA2-4FCA-B35E-D98F96AF48A1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526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7F96-C98A-4FD8-97FC-7281E785D808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012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A92E5-753F-43A4-A19C-8898393F4E34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223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3132-0DE1-4CFF-86B3-EECAC31054C5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559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7597-C689-41DA-BF72-E33D460521E9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8153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2EEC-7F1C-460B-8A0F-81ED4CE2239B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3165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77FA-1B46-4219-BFBE-AD78EF6C51BD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7353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82105-10C4-4F7A-9874-64B32AA83B74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400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1535-8938-4E78-910A-825C911CB186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52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9F7A7-3E6F-461A-AE1F-639A55F2CDB9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1722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492EA-FBF4-401F-800C-B66DF75DDB93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0118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990C0-976D-44CC-9B3D-54605FA4E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9D9017-1D03-419A-B84C-C3EA96D8F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049503-C99B-4079-A1B5-2D7174EDA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17CDA-73B6-4BB0-97AA-1FEEE21226D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579B75-ED18-4C1A-8ED2-52004ABE8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2B48D2-182A-4CAE-853B-F121805D2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1BCA-7219-49EA-94BC-7122EC0DEEA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5" descr="C:\Users\Boram\Desktop\보람그룹_로고\보람그룹로고_가로형.png">
            <a:extLst>
              <a:ext uri="{FF2B5EF4-FFF2-40B4-BE49-F238E27FC236}">
                <a16:creationId xmlns:a16="http://schemas.microsoft.com/office/drawing/2014/main" id="{BBEF70E2-BBA1-43B7-936E-85D1BEEE234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2091" b="-13234"/>
          <a:stretch/>
        </p:blipFill>
        <p:spPr bwMode="auto">
          <a:xfrm>
            <a:off x="5950863" y="6532246"/>
            <a:ext cx="305157" cy="33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5557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755D1-E74C-4434-A89F-B2B8ED24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5A5CBB-F59D-4F4C-89A3-F754E6E57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FD34F6-2E56-4D8C-AD7A-154400646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17CDA-73B6-4BB0-97AA-1FEEE21226D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E07B2D-D2F6-4BD9-8F1B-B3AABCAC2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574C8D-5D99-418C-BEC9-E8F7D2E8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1BCA-7219-49EA-94BC-7122EC0DE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232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559BAB-3572-4675-9FC1-F6AFEFCFD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602A5B-9503-4D8A-9E9C-BBCDDA02D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D1C717-954F-47E3-90FF-863809EF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17CDA-73B6-4BB0-97AA-1FEEE21226D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18D132-2826-43EB-9781-D68134C3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4075B8-C230-4922-B84E-DFF3FA1D2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1BCA-7219-49EA-94BC-7122EC0DE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4135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DCEC3-6382-466D-A61A-F509093C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D8CC3C-56CA-4D91-9BD6-DC295F9F3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CB447C-DA17-419D-9C6C-7BE0EF219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EFA319-FD82-4EBB-80FC-33186D99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17CDA-73B6-4BB0-97AA-1FEEE21226D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94CA0-953F-4A53-96CC-918A373DE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E7C419-1C4C-47A1-8963-428B8AA49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1BCA-7219-49EA-94BC-7122EC0DE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485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5C3F9-1805-4D6E-AEBF-15F989888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0724E1-BF88-4607-8D18-D336106C9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C54C98-A69B-4FE1-B087-BA99D3B80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1CA19D-7D84-48CA-B808-C8F4E3DC9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F876D3-B6F8-4856-86A4-F37A697C8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FC6A7B-E39B-4473-A9CD-72A03F0E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17CDA-73B6-4BB0-97AA-1FEEE21226D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2A58FDE-4CD4-4CFE-851D-A58C813D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1B9843-EDE7-49EC-9F9D-D71DDDF7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1BCA-7219-49EA-94BC-7122EC0DE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464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061D62-D221-4CDD-BF05-55D87FA3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03E982-589D-4EE6-94AF-C22148DA1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17CDA-73B6-4BB0-97AA-1FEEE21226D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A5ECDE-DD71-4A55-A9EB-4480D1B47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E8743-4352-406B-B563-E5183EC8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1BCA-7219-49EA-94BC-7122EC0DE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1277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D8F2D4-AFE4-4495-8497-DBD75510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17CDA-73B6-4BB0-97AA-1FEEE21226D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23E00B-D615-4AED-9AAA-C43514389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80156F-0CE8-4B79-BBD1-4DC9D4E99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1BCA-7219-49EA-94BC-7122EC0DEEA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3BC51C52-541E-492B-B4A3-895C59F0EE27}"/>
              </a:ext>
            </a:extLst>
          </p:cNvPr>
          <p:cNvSpPr txBox="1">
            <a:spLocks/>
          </p:cNvSpPr>
          <p:nvPr userDrawn="1"/>
        </p:nvSpPr>
        <p:spPr>
          <a:xfrm>
            <a:off x="11596691" y="6474850"/>
            <a:ext cx="4332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b="0" kern="1200">
                <a:solidFill>
                  <a:schemeClr val="tx1">
                    <a:tint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4C4618-7B64-4449-981A-3A55F9C4FB4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09895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2D18E-526C-4DA5-9EDF-E6311B212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E6AA04-DAE4-4FEA-AAC7-C7FB591F3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A05803-2A12-4ED8-BC48-235E000CE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3F427E-5425-44FC-BCDB-530D3669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17CDA-73B6-4BB0-97AA-1FEEE21226D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CCEEB2-8939-4C4A-A32F-E069BDCA5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321485-E6A0-41DF-B817-227748B9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1BCA-7219-49EA-94BC-7122EC0DE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9402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119D5-FE0D-48A2-A477-2C441602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D7B2E9-5C9F-4A1E-BF2D-1C930FC25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3488DA-5127-45DE-B0E3-6EA9D2229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9D2F44-23E3-4C52-8357-6F88BAF1F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17CDA-73B6-4BB0-97AA-1FEEE21226D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E4AEF2-39E9-4A7E-BBD6-19C1EB74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B92F3C-E71C-4DE6-A8DF-6DA48846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1BCA-7219-49EA-94BC-7122EC0DE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8214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D051A-BB4E-4BE1-94A7-F895884B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A39AE6-362B-4A81-BACC-F98B2F1EF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204E9B-D4B9-4674-A704-B2B586DB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17CDA-73B6-4BB0-97AA-1FEEE21226D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6BBF80-3F8F-4A0A-8FF6-9ABCB8325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FFD13B-89F8-4387-8D0D-D3F55476D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1BCA-7219-49EA-94BC-7122EC0DE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2163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940686-8423-4FD4-8303-4AC58E859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0B6DD3-CFA7-45D2-BDDC-982BBDF8C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665355-24FD-43FD-8E83-C722B262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17CDA-73B6-4BB0-97AA-1FEEE21226D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A1B92B-D7C2-41D6-A399-A26A4059E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F9C6D-46A5-44F7-87FA-0490A9322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1BCA-7219-49EA-94BC-7122EC0DE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88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4BE808-4433-7B8E-C4C6-C90F413F1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C1F517-E950-415F-709D-8DC054F1A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20575F-B459-277B-2FE6-5D36DFB83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39932-9D58-40EE-8262-D52F662D2E6C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83AA04-807E-8320-1BE3-5836905A7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225990-64C9-F8AA-8DCB-82A52116C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DB032-5D4D-40A2-B825-0544B5305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920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B5200-6A71-4B7B-B487-CC7A325B0652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CE42F49-C621-4B4D-AD61-5EFECC89DF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153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786D60-A2E9-4935-920C-1C4504D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2C0929-CA9C-4503-966F-A8DA5716E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876015-592B-4165-8AD6-656068F7F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17CDA-73B6-4BB0-97AA-1FEEE21226D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93D668-854C-4EF1-8400-E1A65D0D8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5367DA-C2BE-4934-AC6D-3E672906C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31BCA-7219-49EA-94BC-7122EC0DEE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686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1.wdp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3.png"/><Relationship Id="rId5" Type="http://schemas.openxmlformats.org/officeDocument/2006/relationships/image" Target="../media/image28.png"/><Relationship Id="rId10" Type="http://schemas.openxmlformats.org/officeDocument/2006/relationships/image" Target="../media/image16.png"/><Relationship Id="rId4" Type="http://schemas.microsoft.com/office/2007/relationships/hdphoto" Target="../media/hdphoto1.wdp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8.png"/><Relationship Id="rId5" Type="http://schemas.openxmlformats.org/officeDocument/2006/relationships/image" Target="../media/image20.png"/><Relationship Id="rId10" Type="http://schemas.openxmlformats.org/officeDocument/2006/relationships/image" Target="../media/image30.png"/><Relationship Id="rId4" Type="http://schemas.microsoft.com/office/2007/relationships/hdphoto" Target="../media/hdphoto1.wdp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microsoft.com/office/2007/relationships/hdphoto" Target="../media/hdphoto1.wdp"/><Relationship Id="rId4" Type="http://schemas.openxmlformats.org/officeDocument/2006/relationships/image" Target="../media/image32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178D2FDE-C3E7-613F-C8AF-6E258C9EA349}"/>
              </a:ext>
            </a:extLst>
          </p:cNvPr>
          <p:cNvSpPr/>
          <p:nvPr/>
        </p:nvSpPr>
        <p:spPr>
          <a:xfrm>
            <a:off x="5269622" y="913072"/>
            <a:ext cx="1440000" cy="1440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F6601A7-A02A-918D-C6AB-C2CEC7FDA272}"/>
              </a:ext>
            </a:extLst>
          </p:cNvPr>
          <p:cNvSpPr/>
          <p:nvPr/>
        </p:nvSpPr>
        <p:spPr>
          <a:xfrm>
            <a:off x="2900497" y="1318282"/>
            <a:ext cx="2160000" cy="2160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48AF6B4-DD0F-B736-331D-97FC10954A95}"/>
              </a:ext>
            </a:extLst>
          </p:cNvPr>
          <p:cNvSpPr/>
          <p:nvPr/>
        </p:nvSpPr>
        <p:spPr>
          <a:xfrm>
            <a:off x="10638809" y="4255133"/>
            <a:ext cx="1080000" cy="1080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AAFA014-A4EC-DB2B-C678-CA7D55A34EB6}"/>
              </a:ext>
            </a:extLst>
          </p:cNvPr>
          <p:cNvGrpSpPr/>
          <p:nvPr/>
        </p:nvGrpSpPr>
        <p:grpSpPr>
          <a:xfrm>
            <a:off x="616121" y="1920027"/>
            <a:ext cx="10051878" cy="1100375"/>
            <a:chOff x="5247864" y="2276201"/>
            <a:chExt cx="10051878" cy="1100375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41735BF-F8F4-5D4F-D59F-CC8A5F7E03D0}"/>
                </a:ext>
              </a:extLst>
            </p:cNvPr>
            <p:cNvGrpSpPr/>
            <p:nvPr/>
          </p:nvGrpSpPr>
          <p:grpSpPr>
            <a:xfrm>
              <a:off x="5247864" y="2276201"/>
              <a:ext cx="10051878" cy="1100375"/>
              <a:chOff x="5200621" y="2682066"/>
              <a:chExt cx="8125221" cy="110037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557F23-B4F2-CC02-B27C-06B3E729B5EF}"/>
                  </a:ext>
                </a:extLst>
              </p:cNvPr>
              <p:cNvSpPr txBox="1"/>
              <p:nvPr/>
            </p:nvSpPr>
            <p:spPr>
              <a:xfrm>
                <a:off x="6116429" y="2697529"/>
                <a:ext cx="7209413" cy="1084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04F9E"/>
                    </a:solidFill>
                    <a:effectLst/>
                    <a:uLnTx/>
                    <a:uFillTx/>
                    <a:latin typeface="세방고딕 OTF Bold" panose="00000800000000000000" pitchFamily="50" charset="-127"/>
                    <a:ea typeface="세방고딕 OTF Bold" panose="00000800000000000000" pitchFamily="50" charset="-127"/>
                    <a:cs typeface="+mn-cs"/>
                  </a:rPr>
                  <a:t>HD</a:t>
                </a:r>
                <a:r>
                  <a:rPr kumimoji="0" lang="ko-KR" altLang="en-US" sz="2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104F9E"/>
                    </a:solidFill>
                    <a:effectLst/>
                    <a:uLnTx/>
                    <a:uFillTx/>
                    <a:latin typeface="세방고딕 OTF Bold" panose="00000800000000000000" pitchFamily="50" charset="-127"/>
                    <a:ea typeface="세방고딕 OTF Bold" panose="00000800000000000000" pitchFamily="50" charset="-127"/>
                    <a:cs typeface="+mn-cs"/>
                  </a:rPr>
                  <a:t>투어존</a:t>
                </a:r>
                <a:r>
                  <a:rPr kumimoji="0" lang="ko-KR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04F9E"/>
                    </a:solidFill>
                    <a:effectLst/>
                    <a:uLnTx/>
                    <a:uFillTx/>
                    <a:latin typeface="세방고딕 OTF Bold" panose="00000800000000000000" pitchFamily="50" charset="-127"/>
                    <a:ea typeface="세방고딕 OTF Bold" panose="00000800000000000000" pitchFamily="50" charset="-127"/>
                    <a:cs typeface="+mn-cs"/>
                  </a:rPr>
                  <a:t> 온라인 </a:t>
                </a:r>
                <a:r>
                  <a:rPr lang="ko-KR" altLang="en-US" sz="2800" b="1" dirty="0">
                    <a:solidFill>
                      <a:srgbClr val="104F9E"/>
                    </a:solidFill>
                    <a:latin typeface="세방고딕 OTF Bold" panose="00000800000000000000" pitchFamily="50" charset="-127"/>
                    <a:ea typeface="세방고딕 OTF Bold" panose="00000800000000000000" pitchFamily="50" charset="-127"/>
                  </a:rPr>
                  <a:t>회원가입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04F9E"/>
                    </a:solidFill>
                    <a:effectLst/>
                    <a:uLnTx/>
                    <a:uFillTx/>
                    <a:latin typeface="세방고딕 OTF Bold" panose="00000800000000000000" pitchFamily="50" charset="-127"/>
                    <a:ea typeface="세방고딕 OTF Bold" panose="00000800000000000000" pitchFamily="50" charset="-127"/>
                    <a:cs typeface="+mn-cs"/>
                  </a:rPr>
                  <a:t>(</a:t>
                </a:r>
                <a:r>
                  <a:rPr kumimoji="0" lang="ko-KR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04F9E"/>
                    </a:solidFill>
                    <a:effectLst/>
                    <a:uLnTx/>
                    <a:uFillTx/>
                    <a:latin typeface="세방고딕 OTF Bold" panose="00000800000000000000" pitchFamily="50" charset="-127"/>
                    <a:ea typeface="세방고딕 OTF Bold" panose="00000800000000000000" pitchFamily="50" charset="-127"/>
                    <a:cs typeface="+mn-cs"/>
                  </a:rPr>
                  <a:t>전자서명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04F9E"/>
                    </a:solidFill>
                    <a:effectLst/>
                    <a:uLnTx/>
                    <a:uFillTx/>
                    <a:latin typeface="세방고딕 OTF Bold" panose="00000800000000000000" pitchFamily="50" charset="-127"/>
                    <a:ea typeface="세방고딕 OTF Bold" panose="00000800000000000000" pitchFamily="50" charset="-127"/>
                    <a:cs typeface="+mn-cs"/>
                  </a:rPr>
                  <a:t>)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세방고딕 OTF Bold" panose="00000800000000000000" pitchFamily="50" charset="-127"/>
                  <a:ea typeface="세방고딕 OTF Bold" panose="00000800000000000000" pitchFamily="50" charset="-127"/>
                  <a:cs typeface="+mn-cs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세방고딕 OTF Bold" panose="00000800000000000000" pitchFamily="50" charset="-127"/>
                    <a:ea typeface="세방고딕 OTF Bold" panose="00000800000000000000" pitchFamily="50" charset="-127"/>
                    <a:cs typeface="+mn-cs"/>
                  </a:rPr>
                  <a:t>안내자료</a:t>
                </a:r>
                <a:endParaRPr kumimoji="0" lang="en-US" altLang="ko-KR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세방고딕 OTF Bold" panose="00000800000000000000" pitchFamily="50" charset="-127"/>
                  <a:ea typeface="세방고딕 OTF Bold" panose="00000800000000000000" pitchFamily="50" charset="-127"/>
                  <a:cs typeface="+mn-cs"/>
                </a:endParaRPr>
              </a:p>
            </p:txBody>
          </p: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2C64B66-6E73-2DEE-E84A-06B5435AFFD8}"/>
                  </a:ext>
                </a:extLst>
              </p:cNvPr>
              <p:cNvCxnSpPr/>
              <p:nvPr/>
            </p:nvCxnSpPr>
            <p:spPr>
              <a:xfrm>
                <a:off x="6115516" y="2748269"/>
                <a:ext cx="0" cy="43200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429A911-196D-849C-947C-63F3F3505C22}"/>
                  </a:ext>
                </a:extLst>
              </p:cNvPr>
              <p:cNvSpPr/>
              <p:nvPr/>
            </p:nvSpPr>
            <p:spPr>
              <a:xfrm>
                <a:off x="5200621" y="2682066"/>
                <a:ext cx="905569" cy="40720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세방고딕 OTF Bold" panose="00000800000000000000" pitchFamily="50" charset="-127"/>
                    <a:ea typeface="세방고딕 OTF Bold" panose="00000800000000000000" pitchFamily="50" charset="-127"/>
                    <a:cs typeface="+mn-cs"/>
                  </a:rPr>
                  <a:t>2026Y </a:t>
                </a:r>
              </a:p>
            </p:txBody>
          </p:sp>
        </p:grp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72C0BF3-A9CC-6765-327D-F4F484215F6B}"/>
                </a:ext>
              </a:extLst>
            </p:cNvPr>
            <p:cNvCxnSpPr/>
            <p:nvPr/>
          </p:nvCxnSpPr>
          <p:spPr>
            <a:xfrm>
              <a:off x="6375988" y="2360992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06FBD57-BF25-9F27-C30E-80A15EF48D39}"/>
              </a:ext>
            </a:extLst>
          </p:cNvPr>
          <p:cNvGrpSpPr/>
          <p:nvPr/>
        </p:nvGrpSpPr>
        <p:grpSpPr>
          <a:xfrm>
            <a:off x="2226900" y="4418676"/>
            <a:ext cx="1152000" cy="1152000"/>
            <a:chOff x="1816353" y="4437340"/>
            <a:chExt cx="1152000" cy="1152000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DA90BA0-BF40-7567-8B49-D890B779244A}"/>
                </a:ext>
              </a:extLst>
            </p:cNvPr>
            <p:cNvSpPr/>
            <p:nvPr/>
          </p:nvSpPr>
          <p:spPr>
            <a:xfrm>
              <a:off x="2099386" y="4727953"/>
              <a:ext cx="576000" cy="57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3613C42-473F-A5C0-09D4-1A1E627A1751}"/>
                </a:ext>
              </a:extLst>
            </p:cNvPr>
            <p:cNvSpPr/>
            <p:nvPr/>
          </p:nvSpPr>
          <p:spPr>
            <a:xfrm>
              <a:off x="1953204" y="4583520"/>
              <a:ext cx="864000" cy="864000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0CC763A-8E39-91BD-72D5-1447071A5DC9}"/>
                </a:ext>
              </a:extLst>
            </p:cNvPr>
            <p:cNvSpPr/>
            <p:nvPr/>
          </p:nvSpPr>
          <p:spPr>
            <a:xfrm>
              <a:off x="1816353" y="4437340"/>
              <a:ext cx="1152000" cy="1152000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FC41526-5548-D407-69DA-54BC0C5928F6}"/>
              </a:ext>
            </a:extLst>
          </p:cNvPr>
          <p:cNvGrpSpPr/>
          <p:nvPr/>
        </p:nvGrpSpPr>
        <p:grpSpPr>
          <a:xfrm>
            <a:off x="6382594" y="123371"/>
            <a:ext cx="5400000" cy="5400000"/>
            <a:chOff x="6364122" y="-246083"/>
            <a:chExt cx="5400000" cy="5400000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475A1FD-02B4-45ED-7114-4AA903F65101}"/>
                </a:ext>
              </a:extLst>
            </p:cNvPr>
            <p:cNvSpPr/>
            <p:nvPr/>
          </p:nvSpPr>
          <p:spPr>
            <a:xfrm>
              <a:off x="7708008" y="1060851"/>
              <a:ext cx="2700000" cy="2700000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4DB58B5-C49B-B33A-AA2B-68C2353BADF5}"/>
                </a:ext>
              </a:extLst>
            </p:cNvPr>
            <p:cNvSpPr/>
            <p:nvPr/>
          </p:nvSpPr>
          <p:spPr>
            <a:xfrm>
              <a:off x="7260046" y="631362"/>
              <a:ext cx="3600000" cy="3600000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22852487-F6AE-453F-B06B-CF9A806B5739}"/>
                </a:ext>
              </a:extLst>
            </p:cNvPr>
            <p:cNvSpPr/>
            <p:nvPr/>
          </p:nvSpPr>
          <p:spPr>
            <a:xfrm>
              <a:off x="6812082" y="183403"/>
              <a:ext cx="4500000" cy="4500000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750479E5-13DF-9C58-C0E6-FD95B30C5A43}"/>
                </a:ext>
              </a:extLst>
            </p:cNvPr>
            <p:cNvSpPr/>
            <p:nvPr/>
          </p:nvSpPr>
          <p:spPr>
            <a:xfrm>
              <a:off x="6364122" y="-246083"/>
              <a:ext cx="5400000" cy="5400000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1126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FDCEFB-5C8B-437D-B71D-14020DD752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1" r="-191"/>
          <a:stretch/>
        </p:blipFill>
        <p:spPr>
          <a:xfrm>
            <a:off x="1547177" y="37148"/>
            <a:ext cx="9097645" cy="682085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B352C82-B564-4956-B4A7-977A30FB51BD}"/>
              </a:ext>
            </a:extLst>
          </p:cNvPr>
          <p:cNvSpPr/>
          <p:nvPr/>
        </p:nvSpPr>
        <p:spPr>
          <a:xfrm>
            <a:off x="2268747" y="5279366"/>
            <a:ext cx="2104845" cy="879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19CAEF-4CE9-1F96-E323-4B02D42419CE}"/>
              </a:ext>
            </a:extLst>
          </p:cNvPr>
          <p:cNvSpPr/>
          <p:nvPr/>
        </p:nvSpPr>
        <p:spPr>
          <a:xfrm>
            <a:off x="4959926" y="4257963"/>
            <a:ext cx="5375565" cy="20781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A6E4B55-5BF1-B8F5-C9B2-116441948A70}"/>
              </a:ext>
            </a:extLst>
          </p:cNvPr>
          <p:cNvSpPr/>
          <p:nvPr/>
        </p:nvSpPr>
        <p:spPr>
          <a:xfrm>
            <a:off x="5386416" y="4575141"/>
            <a:ext cx="535417" cy="514101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C73F59-709F-1F5E-1D9D-8E3333CBD8D4}"/>
              </a:ext>
            </a:extLst>
          </p:cNvPr>
          <p:cNvSpPr txBox="1"/>
          <p:nvPr/>
        </p:nvSpPr>
        <p:spPr>
          <a:xfrm>
            <a:off x="5980783" y="4572589"/>
            <a:ext cx="426920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600" b="1" dirty="0">
                <a:solidFill>
                  <a:srgbClr val="00206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온라인 회원등록 방식</a:t>
            </a:r>
            <a:r>
              <a:rPr lang="en-US" altLang="ko-KR" sz="2600" b="1" dirty="0">
                <a:solidFill>
                  <a:srgbClr val="00206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lang="ko-KR" altLang="en-US" sz="2600" b="1" dirty="0">
                <a:solidFill>
                  <a:srgbClr val="00206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권장</a:t>
            </a:r>
            <a:r>
              <a:rPr lang="en-US" altLang="ko-KR" sz="2600" b="1" dirty="0">
                <a:solidFill>
                  <a:srgbClr val="00206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  <a:endParaRPr kumimoji="0" lang="ko-KR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33DC24-620D-39B9-4ACA-971B35D5B457}"/>
              </a:ext>
            </a:extLst>
          </p:cNvPr>
          <p:cNvSpPr txBox="1"/>
          <p:nvPr/>
        </p:nvSpPr>
        <p:spPr>
          <a:xfrm>
            <a:off x="6001763" y="5482368"/>
            <a:ext cx="327511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600" b="1" dirty="0">
                <a:solidFill>
                  <a:srgbClr val="00206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회원가입</a:t>
            </a:r>
            <a:r>
              <a:rPr lang="en-US" altLang="ko-KR" sz="2600" b="1" dirty="0">
                <a:solidFill>
                  <a:srgbClr val="00206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lang="ko-KR" altLang="en-US" sz="2600" b="1" dirty="0">
                <a:solidFill>
                  <a:srgbClr val="00206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링크</a:t>
            </a:r>
            <a:r>
              <a:rPr lang="en-US" altLang="ko-KR" sz="2600" b="1" dirty="0">
                <a:solidFill>
                  <a:srgbClr val="00206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 </a:t>
            </a:r>
            <a:r>
              <a:rPr lang="ko-KR" altLang="en-US" sz="2600" b="1" dirty="0">
                <a:solidFill>
                  <a:srgbClr val="00206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방식</a:t>
            </a:r>
            <a:endParaRPr kumimoji="0" lang="ko-KR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6D4DFC7-6215-CBCC-DBD0-5686C14882EE}"/>
              </a:ext>
            </a:extLst>
          </p:cNvPr>
          <p:cNvSpPr/>
          <p:nvPr/>
        </p:nvSpPr>
        <p:spPr>
          <a:xfrm>
            <a:off x="5425601" y="5518435"/>
            <a:ext cx="535417" cy="514101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57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auto">
          <a:xfrm>
            <a:off x="0" y="1"/>
            <a:ext cx="10083545" cy="516467"/>
          </a:xfrm>
          <a:prstGeom prst="rect">
            <a:avLst/>
          </a:prstGeom>
          <a:solidFill>
            <a:srgbClr val="00336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0073224" y="-6"/>
            <a:ext cx="1181099" cy="516467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" y="27708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1. “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온라인 회원등록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”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 방식 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(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담당자가 계약 내용 등록하여 발송 → 고객 본인 인증 방식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(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권장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))</a:t>
            </a:r>
            <a:endParaRPr kumimoji="0" lang="ko-KR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세방고딕 OTF Bold" panose="00000800000000000000" pitchFamily="50" charset="-127"/>
              <a:ea typeface="세방고딕 OTF Bold" panose="00000800000000000000" pitchFamily="50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412D4F4-C504-4D24-A9B4-FB17B6F71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598062"/>
              </p:ext>
            </p:extLst>
          </p:nvPr>
        </p:nvGraphicFramePr>
        <p:xfrm>
          <a:off x="257562" y="5328285"/>
          <a:ext cx="11873478" cy="15297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716">
                  <a:extLst>
                    <a:ext uri="{9D8B030D-6E8A-4147-A177-3AD203B41FA5}">
                      <a16:colId xmlns:a16="http://schemas.microsoft.com/office/drawing/2014/main" val="2983515427"/>
                    </a:ext>
                  </a:extLst>
                </a:gridCol>
                <a:gridCol w="11366762">
                  <a:extLst>
                    <a:ext uri="{9D8B030D-6E8A-4147-A177-3AD203B41FA5}">
                      <a16:colId xmlns:a16="http://schemas.microsoft.com/office/drawing/2014/main" val="270596710"/>
                    </a:ext>
                  </a:extLst>
                </a:gridCol>
              </a:tblGrid>
              <a:tr h="12113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세방고딕 OTF Bold" panose="00000800000000000000" pitchFamily="50" charset="-127"/>
                          <a:ea typeface="세방고딕 OTF Bold" panose="00000800000000000000" pitchFamily="50" charset="-127"/>
                        </a:rPr>
                        <a:t>■ 화면 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015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1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HD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투어존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사원광장 접속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본사에서 전달받은 링크로 접속하여 발급받은 아이디와 비밀번호 입력 후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로그인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네이버에서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HD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사원광장 검색하여도 접속 가능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</a:t>
                      </a:r>
                      <a:endParaRPr lang="en-US" altLang="ko-KR" sz="1100" b="1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415708"/>
                  </a:ext>
                </a:extLst>
              </a:tr>
              <a:tr h="1962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2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HD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투어존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인트라넷 사원광장 회원등록 메뉴에서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온라인 회원등록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클릭하면 상품가입 신청서 페이지로 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넘어감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.</a:t>
                      </a:r>
                      <a:endParaRPr lang="en-US" altLang="ko-KR" sz="1100" b="1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235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3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담당자가 고객 정보 및 계약정보를 모두 입력하여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서명요청 발송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상품은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“VIP</a:t>
                      </a:r>
                      <a:r>
                        <a:rPr lang="ko-KR" altLang="en-US" sz="1100" b="1" kern="1200" dirty="0" err="1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파트너스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크루즈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(2512-120)”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선택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이체일자는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“5,10,15,20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중에서 선택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  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결제방법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자동이체로 계좌 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입력시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 err="1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씨티은행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 err="1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유안타증권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삼성증권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불가하며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평생계좌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핸드폰번호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는 원래 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부여받은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계좌번호 입력 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⇒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고객님께 승인요청이 발송됩니다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265681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150B86-ED45-4705-AD6B-9BAA8B6F89D2}"/>
              </a:ext>
            </a:extLst>
          </p:cNvPr>
          <p:cNvSpPr>
            <a:spLocks noChangeAspect="1"/>
          </p:cNvSpPr>
          <p:nvPr/>
        </p:nvSpPr>
        <p:spPr>
          <a:xfrm>
            <a:off x="150243" y="594697"/>
            <a:ext cx="255878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56B270E-1A0B-E868-0FFF-FF6DB10F1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5362"/>
            <a:ext cx="2873829" cy="266276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BE18A4D-7481-F8F6-EC00-BC22F947B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499" y="729329"/>
            <a:ext cx="4134736" cy="150348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0462AB-A55A-9F08-39CA-E697DC6669DC}"/>
              </a:ext>
            </a:extLst>
          </p:cNvPr>
          <p:cNvSpPr txBox="1"/>
          <p:nvPr/>
        </p:nvSpPr>
        <p:spPr>
          <a:xfrm>
            <a:off x="4267987" y="1353390"/>
            <a:ext cx="1087783" cy="3099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1B782827-18E0-9BD7-F8F4-50B50584B4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6305" y="2419663"/>
            <a:ext cx="3355110" cy="2892564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FB94337A-25EC-EF36-14B6-2908C1C072FD}"/>
              </a:ext>
            </a:extLst>
          </p:cNvPr>
          <p:cNvSpPr>
            <a:spLocks noChangeAspect="1"/>
          </p:cNvSpPr>
          <p:nvPr/>
        </p:nvSpPr>
        <p:spPr>
          <a:xfrm>
            <a:off x="6864017" y="591818"/>
            <a:ext cx="210244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화살표: 오른쪽 20">
            <a:extLst>
              <a:ext uri="{FF2B5EF4-FFF2-40B4-BE49-F238E27FC236}">
                <a16:creationId xmlns:a16="http://schemas.microsoft.com/office/drawing/2014/main" id="{47D74C4D-AB7B-84F7-633D-2BC4358CA86C}"/>
              </a:ext>
            </a:extLst>
          </p:cNvPr>
          <p:cNvSpPr/>
          <p:nvPr/>
        </p:nvSpPr>
        <p:spPr>
          <a:xfrm rot="5400000" flipV="1">
            <a:off x="4823653" y="2125308"/>
            <a:ext cx="169167" cy="39473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B1C7EC9D-E384-0BE2-5FD7-CEC7FF47F1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2777" y="914043"/>
            <a:ext cx="2612994" cy="375375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1980286-928A-0C03-2A5F-9E800C3743D3}"/>
              </a:ext>
            </a:extLst>
          </p:cNvPr>
          <p:cNvSpPr txBox="1"/>
          <p:nvPr/>
        </p:nvSpPr>
        <p:spPr>
          <a:xfrm>
            <a:off x="1827217" y="2525755"/>
            <a:ext cx="406400" cy="4581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D165BF-12E3-0F50-FFC6-D2E0A56C68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0568" y="923109"/>
            <a:ext cx="2415367" cy="37446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A824B4-96FF-42B3-4179-B82EC4E3F0D9}"/>
              </a:ext>
            </a:extLst>
          </p:cNvPr>
          <p:cNvSpPr txBox="1"/>
          <p:nvPr/>
        </p:nvSpPr>
        <p:spPr>
          <a:xfrm>
            <a:off x="7057242" y="4328153"/>
            <a:ext cx="2417686" cy="3089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8ED83-AEB0-6616-2C67-629EA895B5BF}"/>
              </a:ext>
            </a:extLst>
          </p:cNvPr>
          <p:cNvSpPr txBox="1"/>
          <p:nvPr/>
        </p:nvSpPr>
        <p:spPr>
          <a:xfrm>
            <a:off x="7714695" y="2142305"/>
            <a:ext cx="1612185" cy="1993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7B76BB-FFC2-80DB-71AD-756FDD7901C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Blur radius="11"/>
                    </a14:imgEffect>
                  </a14:imgLayer>
                </a14:imgProps>
              </a:ext>
            </a:extLst>
          </a:blip>
          <a:srcRect t="34051" r="83634" b="47939"/>
          <a:stretch/>
        </p:blipFill>
        <p:spPr>
          <a:xfrm>
            <a:off x="7775705" y="1333393"/>
            <a:ext cx="888270" cy="120938"/>
          </a:xfrm>
          <a:prstGeom prst="rect">
            <a:avLst/>
          </a:prstGeom>
        </p:spPr>
      </p:pic>
      <p:sp>
        <p:nvSpPr>
          <p:cNvPr id="9" name="제목 8">
            <a:extLst>
              <a:ext uri="{FF2B5EF4-FFF2-40B4-BE49-F238E27FC236}">
                <a16:creationId xmlns:a16="http://schemas.microsoft.com/office/drawing/2014/main" id="{FE4C6F96-D120-8873-1099-16AABBE4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4153" y="557346"/>
            <a:ext cx="2483191" cy="339635"/>
          </a:xfrm>
          <a:ln w="15875">
            <a:solidFill>
              <a:srgbClr val="7030A0"/>
            </a:solidFill>
          </a:ln>
        </p:spPr>
        <p:txBody>
          <a:bodyPr>
            <a:noAutofit/>
          </a:bodyPr>
          <a:lstStyle/>
          <a:p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</a:rPr>
              <a:t>&lt;</a:t>
            </a:r>
            <a:r>
              <a:rPr lang="ko-KR" altLang="en-US" sz="1200" b="1" dirty="0">
                <a:solidFill>
                  <a:schemeClr val="accent5">
                    <a:lumMod val="75000"/>
                  </a:schemeClr>
                </a:solidFill>
              </a:rPr>
              <a:t>계약자 </a:t>
            </a:r>
            <a:r>
              <a:rPr lang="en-US" altLang="ko-KR" sz="1400" b="1" dirty="0">
                <a:solidFill>
                  <a:schemeClr val="accent5">
                    <a:lumMod val="75000"/>
                  </a:schemeClr>
                </a:solidFill>
              </a:rPr>
              <a:t>=</a:t>
            </a:r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ko-KR" altLang="en-US" sz="1200" b="1" dirty="0" err="1">
                <a:solidFill>
                  <a:schemeClr val="accent5">
                    <a:lumMod val="75000"/>
                  </a:schemeClr>
                </a:solidFill>
              </a:rPr>
              <a:t>카드주</a:t>
            </a:r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5">
                    <a:lumMod val="75000"/>
                  </a:schemeClr>
                </a:solidFill>
              </a:rPr>
              <a:t>예금주</a:t>
            </a:r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</a:rPr>
              <a:t>)</a:t>
            </a:r>
            <a:r>
              <a:rPr lang="ko-KR" altLang="en-US" sz="1200" b="1" dirty="0" err="1">
                <a:solidFill>
                  <a:schemeClr val="accent5">
                    <a:lumMod val="75000"/>
                  </a:schemeClr>
                </a:solidFill>
              </a:rPr>
              <a:t>일때</a:t>
            </a:r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</a:rPr>
              <a:t>&gt;</a:t>
            </a:r>
            <a:endParaRPr lang="ko-KR" altLang="en-US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제목 8">
            <a:extLst>
              <a:ext uri="{FF2B5EF4-FFF2-40B4-BE49-F238E27FC236}">
                <a16:creationId xmlns:a16="http://schemas.microsoft.com/office/drawing/2014/main" id="{9CB03811-201A-2DC6-0653-1A23FDA808AC}"/>
              </a:ext>
            </a:extLst>
          </p:cNvPr>
          <p:cNvSpPr txBox="1">
            <a:spLocks/>
          </p:cNvSpPr>
          <p:nvPr/>
        </p:nvSpPr>
        <p:spPr>
          <a:xfrm>
            <a:off x="9676479" y="561964"/>
            <a:ext cx="2450866" cy="339635"/>
          </a:xfrm>
          <a:prstGeom prst="rect">
            <a:avLst/>
          </a:prstGeom>
          <a:ln w="15875">
            <a:solidFill>
              <a:srgbClr val="7030A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</a:rPr>
              <a:t>&lt;</a:t>
            </a:r>
            <a:r>
              <a:rPr lang="ko-KR" altLang="en-US" sz="1200" b="1" dirty="0">
                <a:solidFill>
                  <a:schemeClr val="accent5">
                    <a:lumMod val="75000"/>
                  </a:schemeClr>
                </a:solidFill>
              </a:rPr>
              <a:t>계약자 </a:t>
            </a:r>
            <a:r>
              <a:rPr lang="ko-KR" altLang="en-US" sz="14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≠</a:t>
            </a:r>
            <a:r>
              <a:rPr lang="ko-KR" alt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ko-KR" altLang="en-US" sz="1200" b="1" dirty="0" err="1">
                <a:solidFill>
                  <a:schemeClr val="accent5">
                    <a:lumMod val="75000"/>
                  </a:schemeClr>
                </a:solidFill>
              </a:rPr>
              <a:t>카드주</a:t>
            </a:r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5">
                    <a:lumMod val="75000"/>
                  </a:schemeClr>
                </a:solidFill>
              </a:rPr>
              <a:t>예금주</a:t>
            </a:r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</a:rPr>
              <a:t>)</a:t>
            </a:r>
            <a:r>
              <a:rPr lang="ko-KR" altLang="en-US" sz="1200" b="1" dirty="0" err="1">
                <a:solidFill>
                  <a:schemeClr val="accent5">
                    <a:lumMod val="75000"/>
                  </a:schemeClr>
                </a:solidFill>
              </a:rPr>
              <a:t>일때</a:t>
            </a:r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</a:rPr>
              <a:t>&gt;</a:t>
            </a:r>
            <a:endParaRPr lang="ko-KR" altLang="en-US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6E8DBE-9FE5-662C-431A-1073A54A40B0}"/>
              </a:ext>
            </a:extLst>
          </p:cNvPr>
          <p:cNvSpPr txBox="1"/>
          <p:nvPr/>
        </p:nvSpPr>
        <p:spPr>
          <a:xfrm>
            <a:off x="7701633" y="3605344"/>
            <a:ext cx="1625248" cy="2124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2B9AFA0-9C05-9A9C-148F-18B2BC58BE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0244" y="4698811"/>
            <a:ext cx="2935470" cy="5872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2D06745-3A4F-6694-C41A-A0AC9E36CF7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Blur radius="11"/>
                    </a14:imgEffect>
                  </a14:imgLayer>
                </a14:imgProps>
              </a:ext>
            </a:extLst>
          </a:blip>
          <a:srcRect t="34051" r="83634" b="47939"/>
          <a:stretch/>
        </p:blipFill>
        <p:spPr>
          <a:xfrm>
            <a:off x="10340379" y="1294206"/>
            <a:ext cx="888270" cy="12093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A1B8D03-1DE2-D47D-C3F0-BCE461E52AAD}"/>
              </a:ext>
            </a:extLst>
          </p:cNvPr>
          <p:cNvSpPr txBox="1"/>
          <p:nvPr/>
        </p:nvSpPr>
        <p:spPr>
          <a:xfrm>
            <a:off x="10314204" y="1981198"/>
            <a:ext cx="1612185" cy="1993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88DFD9-9FBD-712C-E272-CFD0AB4CB621}"/>
              </a:ext>
            </a:extLst>
          </p:cNvPr>
          <p:cNvSpPr txBox="1"/>
          <p:nvPr/>
        </p:nvSpPr>
        <p:spPr>
          <a:xfrm>
            <a:off x="10318560" y="3766456"/>
            <a:ext cx="1629600" cy="178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BCFCB5-5868-ECEB-A10F-564683F5C523}"/>
              </a:ext>
            </a:extLst>
          </p:cNvPr>
          <p:cNvSpPr txBox="1"/>
          <p:nvPr/>
        </p:nvSpPr>
        <p:spPr>
          <a:xfrm>
            <a:off x="9613207" y="4376053"/>
            <a:ext cx="2517833" cy="2830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A6DEA8-BBCF-3FB4-6F8F-F52690C4C67E}"/>
              </a:ext>
            </a:extLst>
          </p:cNvPr>
          <p:cNvSpPr txBox="1"/>
          <p:nvPr/>
        </p:nvSpPr>
        <p:spPr>
          <a:xfrm>
            <a:off x="8987246" y="4994358"/>
            <a:ext cx="470264" cy="2046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265C8D-D5FB-BE6C-C38C-20E301B55DF6}"/>
              </a:ext>
            </a:extLst>
          </p:cNvPr>
          <p:cNvSpPr>
            <a:spLocks noChangeAspect="1"/>
          </p:cNvSpPr>
          <p:nvPr/>
        </p:nvSpPr>
        <p:spPr>
          <a:xfrm>
            <a:off x="3031843" y="542074"/>
            <a:ext cx="210244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42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auto">
          <a:xfrm>
            <a:off x="0" y="1"/>
            <a:ext cx="10083545" cy="516467"/>
          </a:xfrm>
          <a:prstGeom prst="rect">
            <a:avLst/>
          </a:prstGeom>
          <a:solidFill>
            <a:srgbClr val="00336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0073224" y="-6"/>
            <a:ext cx="1181099" cy="516467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412D4F4-C504-4D24-A9B4-FB17B6F71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205168"/>
              </p:ext>
            </p:extLst>
          </p:nvPr>
        </p:nvGraphicFramePr>
        <p:xfrm>
          <a:off x="240145" y="5786105"/>
          <a:ext cx="11873478" cy="1018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716">
                  <a:extLst>
                    <a:ext uri="{9D8B030D-6E8A-4147-A177-3AD203B41FA5}">
                      <a16:colId xmlns:a16="http://schemas.microsoft.com/office/drawing/2014/main" val="2983515427"/>
                    </a:ext>
                  </a:extLst>
                </a:gridCol>
                <a:gridCol w="11366762">
                  <a:extLst>
                    <a:ext uri="{9D8B030D-6E8A-4147-A177-3AD203B41FA5}">
                      <a16:colId xmlns:a16="http://schemas.microsoft.com/office/drawing/2014/main" val="270596710"/>
                    </a:ext>
                  </a:extLst>
                </a:gridCol>
              </a:tblGrid>
              <a:tr h="269968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세방고딕 OTF Bold" panose="00000800000000000000" pitchFamily="50" charset="-127"/>
                          <a:ea typeface="세방고딕 OTF Bold" panose="00000800000000000000" pitchFamily="50" charset="-127"/>
                        </a:rPr>
                        <a:t>■ 화면 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015604"/>
                  </a:ext>
                </a:extLst>
              </a:tr>
              <a:tr h="2926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1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계약자에게 문자가 전송되며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계약자가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모두 보기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</a:t>
                      </a:r>
                      <a:endParaRPr lang="en-US" altLang="ko-KR" sz="1200" b="1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415708"/>
                  </a:ext>
                </a:extLst>
              </a:tr>
              <a:tr h="3830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2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계약자가 맨 하단의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URL 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주소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＂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235674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150B86-ED45-4705-AD6B-9BAA8B6F89D2}"/>
              </a:ext>
            </a:extLst>
          </p:cNvPr>
          <p:cNvSpPr>
            <a:spLocks noChangeAspect="1"/>
          </p:cNvSpPr>
          <p:nvPr/>
        </p:nvSpPr>
        <p:spPr>
          <a:xfrm>
            <a:off x="1804872" y="707907"/>
            <a:ext cx="255878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D83CC34-9366-4F47-BCFD-3D74BBE6D277}"/>
              </a:ext>
            </a:extLst>
          </p:cNvPr>
          <p:cNvSpPr>
            <a:spLocks noChangeAspect="1"/>
          </p:cNvSpPr>
          <p:nvPr/>
        </p:nvSpPr>
        <p:spPr>
          <a:xfrm>
            <a:off x="6950699" y="629160"/>
            <a:ext cx="210244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A7938BC-B56E-9C35-77E2-C876664D00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</a:extLst>
          </a:blip>
          <a:srcRect l="1537" t="-77647" r="80967" b="149897"/>
          <a:stretch/>
        </p:blipFill>
        <p:spPr>
          <a:xfrm>
            <a:off x="4213748" y="1699491"/>
            <a:ext cx="1050979" cy="378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454928-517E-5F94-B039-5F1A43FD0CE3}"/>
              </a:ext>
            </a:extLst>
          </p:cNvPr>
          <p:cNvSpPr txBox="1"/>
          <p:nvPr/>
        </p:nvSpPr>
        <p:spPr>
          <a:xfrm>
            <a:off x="1" y="27708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1. “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온라인 회원등록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”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 방식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담당자가 계약 내용 등록하여 발송 → 고객 본인 인증 방식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권장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))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세방고딕 OTF Bold" panose="00000800000000000000" pitchFamily="50" charset="-127"/>
              <a:ea typeface="세방고딕 OTF Bold" panose="00000800000000000000" pitchFamily="50" charset="-127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665CB63-A633-DBB1-7E36-31B6EC11E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7720" y="731520"/>
            <a:ext cx="2177058" cy="502484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BCB2618-EDBB-8C38-7D16-7878FB2285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7392" y="539928"/>
            <a:ext cx="1764688" cy="306542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17F1A91-1C6C-A019-6DDE-C728994A52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3711" y="3643631"/>
            <a:ext cx="1655455" cy="208865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FD66785-F6F0-8DB7-F800-5251574B86A9}"/>
              </a:ext>
            </a:extLst>
          </p:cNvPr>
          <p:cNvSpPr txBox="1"/>
          <p:nvPr/>
        </p:nvSpPr>
        <p:spPr>
          <a:xfrm>
            <a:off x="2490650" y="4664364"/>
            <a:ext cx="1445624" cy="2995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61FC93-E1B1-CF18-940A-6E0173BF498C}"/>
              </a:ext>
            </a:extLst>
          </p:cNvPr>
          <p:cNvSpPr txBox="1"/>
          <p:nvPr/>
        </p:nvSpPr>
        <p:spPr>
          <a:xfrm>
            <a:off x="7467594" y="4938684"/>
            <a:ext cx="1650276" cy="7654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4431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auto">
          <a:xfrm>
            <a:off x="0" y="1"/>
            <a:ext cx="10083545" cy="516467"/>
          </a:xfrm>
          <a:prstGeom prst="rect">
            <a:avLst/>
          </a:prstGeom>
          <a:solidFill>
            <a:srgbClr val="00336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0073224" y="-6"/>
            <a:ext cx="1181099" cy="516467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412D4F4-C504-4D24-A9B4-FB17B6F71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352282"/>
              </p:ext>
            </p:extLst>
          </p:nvPr>
        </p:nvGraphicFramePr>
        <p:xfrm>
          <a:off x="240145" y="5786107"/>
          <a:ext cx="11873478" cy="983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716">
                  <a:extLst>
                    <a:ext uri="{9D8B030D-6E8A-4147-A177-3AD203B41FA5}">
                      <a16:colId xmlns:a16="http://schemas.microsoft.com/office/drawing/2014/main" val="2983515427"/>
                    </a:ext>
                  </a:extLst>
                </a:gridCol>
                <a:gridCol w="11366762">
                  <a:extLst>
                    <a:ext uri="{9D8B030D-6E8A-4147-A177-3AD203B41FA5}">
                      <a16:colId xmlns:a16="http://schemas.microsoft.com/office/drawing/2014/main" val="270596710"/>
                    </a:ext>
                  </a:extLst>
                </a:gridCol>
              </a:tblGrid>
              <a:tr h="329539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세방고딕 OTF Bold" panose="00000800000000000000" pitchFamily="50" charset="-127"/>
                          <a:ea typeface="세방고딕 OTF Bold" panose="00000800000000000000" pitchFamily="50" charset="-127"/>
                        </a:rPr>
                        <a:t>■ 화면 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015604"/>
                  </a:ext>
                </a:extLst>
              </a:tr>
              <a:tr h="242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1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ea typeface="세방고딕 OTF Regular" panose="00000500000000000000" pitchFamily="50" charset="-127"/>
                          <a:cs typeface="+mn-cs"/>
                        </a:rPr>
                        <a:t>○ 계약자가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ea typeface="세방고딕 OTF Regular" panose="00000500000000000000" pitchFamily="50" charset="-127"/>
                          <a:cs typeface="+mn-cs"/>
                        </a:rPr>
                        <a:t>인증하기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ea typeface="세방고딕 OTF Regular" panose="00000500000000000000" pitchFamily="50" charset="-127"/>
                          <a:cs typeface="+mn-cs"/>
                        </a:rPr>
                        <a:t>“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ea typeface="세방고딕 OTF Regular" panose="00000500000000000000" pitchFamily="50" charset="-127"/>
                          <a:cs typeface="+mn-cs"/>
                        </a:rPr>
                        <a:t>클릭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⇒ 계약자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통신사 선택하여 클릭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”</a:t>
                      </a:r>
                      <a:endParaRPr lang="en-US" altLang="ko-KR" sz="1200" b="1" kern="1200" dirty="0">
                        <a:solidFill>
                          <a:srgbClr val="FF0000"/>
                        </a:solidFill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415708"/>
                  </a:ext>
                </a:extLst>
              </a:tr>
              <a:tr h="34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2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계약자에게 알맞은 인증방법 선택하여 클릭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⇒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문자인증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클릭 시 계약자 정보 입력 후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클릭 ⇒ 문자로 받은 인증번호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자리 입력 후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</a:t>
                      </a:r>
                      <a:endParaRPr lang="en-US" altLang="ko-KR" sz="1200" b="1" u="none" kern="1200" dirty="0">
                        <a:solidFill>
                          <a:schemeClr val="tx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265681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150B86-ED45-4705-AD6B-9BAA8B6F89D2}"/>
              </a:ext>
            </a:extLst>
          </p:cNvPr>
          <p:cNvSpPr>
            <a:spLocks noChangeAspect="1"/>
          </p:cNvSpPr>
          <p:nvPr/>
        </p:nvSpPr>
        <p:spPr>
          <a:xfrm>
            <a:off x="106701" y="620824"/>
            <a:ext cx="255878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D83CC34-9366-4F47-BCFD-3D74BBE6D277}"/>
              </a:ext>
            </a:extLst>
          </p:cNvPr>
          <p:cNvSpPr>
            <a:spLocks noChangeAspect="1"/>
          </p:cNvSpPr>
          <p:nvPr/>
        </p:nvSpPr>
        <p:spPr>
          <a:xfrm>
            <a:off x="5870843" y="655286"/>
            <a:ext cx="268699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A7938BC-B56E-9C35-77E2-C876664D00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</a:extLst>
          </a:blip>
          <a:srcRect l="1537" t="-77647" r="80967" b="149897"/>
          <a:stretch/>
        </p:blipFill>
        <p:spPr>
          <a:xfrm>
            <a:off x="2550415" y="1699491"/>
            <a:ext cx="1050979" cy="3786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BB21E43-0ED8-8255-E779-5C4D2C84A3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00" y="851204"/>
            <a:ext cx="4448175" cy="12668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D55315F-C6F9-6652-4228-649E424021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058" y="2473234"/>
            <a:ext cx="3334039" cy="29783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F76DB7F-D989-20F6-E06C-C6D557953B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34" y="550416"/>
            <a:ext cx="3698247" cy="185543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AEC114C-235D-A96E-2EE5-A26AE48A49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5535" y="2876365"/>
            <a:ext cx="2956527" cy="2556769"/>
          </a:xfrm>
          <a:prstGeom prst="rect">
            <a:avLst/>
          </a:prstGeom>
        </p:spPr>
      </p:pic>
      <p:sp>
        <p:nvSpPr>
          <p:cNvPr id="5" name="화살표: 오른쪽 20">
            <a:extLst>
              <a:ext uri="{FF2B5EF4-FFF2-40B4-BE49-F238E27FC236}">
                <a16:creationId xmlns:a16="http://schemas.microsoft.com/office/drawing/2014/main" id="{12F2CB8C-C804-507E-9086-4D7C2139F517}"/>
              </a:ext>
            </a:extLst>
          </p:cNvPr>
          <p:cNvSpPr/>
          <p:nvPr/>
        </p:nvSpPr>
        <p:spPr>
          <a:xfrm rot="5400000" flipV="1">
            <a:off x="2670134" y="2084277"/>
            <a:ext cx="365770" cy="39473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D6A0E-950A-754E-2952-FA83DCA307B1}"/>
              </a:ext>
            </a:extLst>
          </p:cNvPr>
          <p:cNvSpPr txBox="1"/>
          <p:nvPr/>
        </p:nvSpPr>
        <p:spPr>
          <a:xfrm>
            <a:off x="557353" y="1454331"/>
            <a:ext cx="4484914" cy="60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3DE23C-2CCA-302C-0428-362097D18531}"/>
              </a:ext>
            </a:extLst>
          </p:cNvPr>
          <p:cNvSpPr txBox="1"/>
          <p:nvPr/>
        </p:nvSpPr>
        <p:spPr>
          <a:xfrm>
            <a:off x="2194294" y="3583052"/>
            <a:ext cx="1063244" cy="779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1" name="화살표: 오른쪽 20">
            <a:extLst>
              <a:ext uri="{FF2B5EF4-FFF2-40B4-BE49-F238E27FC236}">
                <a16:creationId xmlns:a16="http://schemas.microsoft.com/office/drawing/2014/main" id="{1EB2520F-B7F7-7A93-1608-4829CCADCC07}"/>
              </a:ext>
            </a:extLst>
          </p:cNvPr>
          <p:cNvSpPr/>
          <p:nvPr/>
        </p:nvSpPr>
        <p:spPr>
          <a:xfrm rot="5400000" flipV="1">
            <a:off x="7237447" y="2440862"/>
            <a:ext cx="365770" cy="39473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5A6DB2-C8D0-E05C-55E6-097216698D88}"/>
              </a:ext>
            </a:extLst>
          </p:cNvPr>
          <p:cNvSpPr txBox="1"/>
          <p:nvPr/>
        </p:nvSpPr>
        <p:spPr>
          <a:xfrm>
            <a:off x="6452294" y="2032859"/>
            <a:ext cx="3551068" cy="3463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15D067-E90F-E744-A9AC-F5DC5DAE07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9897" y="2947386"/>
            <a:ext cx="2000567" cy="244135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9197F94-6FB9-2131-D456-B38EE510B974}"/>
              </a:ext>
            </a:extLst>
          </p:cNvPr>
          <p:cNvSpPr txBox="1"/>
          <p:nvPr/>
        </p:nvSpPr>
        <p:spPr>
          <a:xfrm>
            <a:off x="5583553" y="5123768"/>
            <a:ext cx="2956264" cy="3463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9" name="화살표: 오른쪽 20">
            <a:extLst>
              <a:ext uri="{FF2B5EF4-FFF2-40B4-BE49-F238E27FC236}">
                <a16:creationId xmlns:a16="http://schemas.microsoft.com/office/drawing/2014/main" id="{416B0574-F84B-86AD-196B-5EC22F0DA368}"/>
              </a:ext>
            </a:extLst>
          </p:cNvPr>
          <p:cNvSpPr/>
          <p:nvPr/>
        </p:nvSpPr>
        <p:spPr>
          <a:xfrm rot="21368240" flipV="1">
            <a:off x="8730372" y="4164609"/>
            <a:ext cx="365770" cy="39473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7E6617-EF5F-DDBB-A02E-2BC0988AC1C2}"/>
              </a:ext>
            </a:extLst>
          </p:cNvPr>
          <p:cNvSpPr txBox="1"/>
          <p:nvPr/>
        </p:nvSpPr>
        <p:spPr>
          <a:xfrm>
            <a:off x="10608315" y="4312501"/>
            <a:ext cx="594804" cy="6057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454928-517E-5F94-B039-5F1A43FD0CE3}"/>
              </a:ext>
            </a:extLst>
          </p:cNvPr>
          <p:cNvSpPr txBox="1"/>
          <p:nvPr/>
        </p:nvSpPr>
        <p:spPr>
          <a:xfrm>
            <a:off x="1" y="27708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1. “</a:t>
            </a:r>
            <a:r>
              <a:rPr lang="ko-KR" altLang="en-US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온라인 회원등록</a:t>
            </a:r>
            <a:r>
              <a:rPr lang="en-US" altLang="ko-KR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”</a:t>
            </a:r>
            <a:r>
              <a:rPr lang="ko-KR" altLang="en-US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 방식 </a:t>
            </a:r>
            <a:r>
              <a:rPr lang="en-US" altLang="ko-KR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(</a:t>
            </a:r>
            <a:r>
              <a:rPr lang="ko-KR" altLang="en-US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담당자가 계약 내용 등록하여 발송 → 고객 본인 인증 방식</a:t>
            </a:r>
            <a:r>
              <a:rPr lang="en-US" altLang="ko-KR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(</a:t>
            </a:r>
            <a:r>
              <a:rPr lang="ko-KR" altLang="en-US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권장</a:t>
            </a:r>
            <a:r>
              <a:rPr lang="en-US" altLang="ko-KR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))</a:t>
            </a:r>
            <a:endParaRPr lang="ko-KR" altLang="en-US" dirty="0">
              <a:solidFill>
                <a:prstClr val="white"/>
              </a:solidFill>
              <a:latin typeface="세방고딕 OTF Bold" panose="00000800000000000000" pitchFamily="50" charset="-127"/>
              <a:ea typeface="세방고딕 OTF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3054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auto">
          <a:xfrm>
            <a:off x="0" y="1"/>
            <a:ext cx="10083545" cy="516467"/>
          </a:xfrm>
          <a:prstGeom prst="rect">
            <a:avLst/>
          </a:prstGeom>
          <a:solidFill>
            <a:srgbClr val="00336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0073224" y="-6"/>
            <a:ext cx="1181099" cy="516467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412D4F4-C504-4D24-A9B4-FB17B6F71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229438"/>
              </p:ext>
            </p:extLst>
          </p:nvPr>
        </p:nvGraphicFramePr>
        <p:xfrm>
          <a:off x="240145" y="5471536"/>
          <a:ext cx="11873478" cy="13863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716">
                  <a:extLst>
                    <a:ext uri="{9D8B030D-6E8A-4147-A177-3AD203B41FA5}">
                      <a16:colId xmlns:a16="http://schemas.microsoft.com/office/drawing/2014/main" val="2983515427"/>
                    </a:ext>
                  </a:extLst>
                </a:gridCol>
                <a:gridCol w="11366762">
                  <a:extLst>
                    <a:ext uri="{9D8B030D-6E8A-4147-A177-3AD203B41FA5}">
                      <a16:colId xmlns:a16="http://schemas.microsoft.com/office/drawing/2014/main" val="270596710"/>
                    </a:ext>
                  </a:extLst>
                </a:gridCol>
              </a:tblGrid>
              <a:tr h="298655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세방고딕 OTF Bold" panose="00000800000000000000" pitchFamily="50" charset="-127"/>
                          <a:ea typeface="세방고딕 OTF Bold" panose="00000800000000000000" pitchFamily="50" charset="-127"/>
                        </a:rPr>
                        <a:t>■ 화면 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015604"/>
                  </a:ext>
                </a:extLst>
              </a:tr>
              <a:tr h="59251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1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담당자가 등록하여 발송한 계약 내용 확인 후 이상이 없으면 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전자서명 및 동의정보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가지 필수사항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을 하나씩 순서대로 클릭하여 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  “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동의합니다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.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필수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]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옆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체크박스에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체크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하고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415708"/>
                  </a:ext>
                </a:extLst>
              </a:tr>
              <a:tr h="4768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번째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개인정보이용 및 수집동의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필수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]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에도 체크박스에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체크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하고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계약자 사인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까지 입력하여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클릭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상품약관도 클릭하여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클릭</a:t>
                      </a:r>
                      <a:endParaRPr lang="en-US" altLang="ko-KR" sz="1200" b="1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235674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150B86-ED45-4705-AD6B-9BAA8B6F89D2}"/>
              </a:ext>
            </a:extLst>
          </p:cNvPr>
          <p:cNvSpPr>
            <a:spLocks noChangeAspect="1"/>
          </p:cNvSpPr>
          <p:nvPr/>
        </p:nvSpPr>
        <p:spPr>
          <a:xfrm>
            <a:off x="193788" y="594697"/>
            <a:ext cx="255878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A7938BC-B56E-9C35-77E2-C876664D00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</a:extLst>
          </a:blip>
          <a:srcRect l="1537" t="-77647" r="80967" b="149897"/>
          <a:stretch/>
        </p:blipFill>
        <p:spPr>
          <a:xfrm>
            <a:off x="4213748" y="1699491"/>
            <a:ext cx="1050979" cy="3786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E1C05E2-628C-22C5-FF1D-5D5119D3C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07" y="550415"/>
            <a:ext cx="2284323" cy="49004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8045F10-E04A-5627-FBEA-A2A4BBF66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0378" y="547585"/>
            <a:ext cx="2404272" cy="487595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7CE51E-6C96-3163-E896-46B4BCD0A5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3156" y="601500"/>
            <a:ext cx="2059793" cy="489967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1E2ACCB-6AF8-41EB-182A-67964F4A32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2500" y="554892"/>
            <a:ext cx="2293478" cy="48782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C5F042-E6FB-B951-12DE-FA42D2AF89DC}"/>
              </a:ext>
            </a:extLst>
          </p:cNvPr>
          <p:cNvSpPr txBox="1"/>
          <p:nvPr/>
        </p:nvSpPr>
        <p:spPr>
          <a:xfrm>
            <a:off x="521714" y="2835564"/>
            <a:ext cx="2184541" cy="997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EDC7F-E4DC-DE8D-D8E1-AD2AE313CC4B}"/>
              </a:ext>
            </a:extLst>
          </p:cNvPr>
          <p:cNvSpPr txBox="1"/>
          <p:nvPr/>
        </p:nvSpPr>
        <p:spPr>
          <a:xfrm>
            <a:off x="3438831" y="4709230"/>
            <a:ext cx="1698171" cy="7320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1B6D1-99EE-3268-15DD-F90EB1BE9E3D}"/>
              </a:ext>
            </a:extLst>
          </p:cNvPr>
          <p:cNvSpPr txBox="1"/>
          <p:nvPr/>
        </p:nvSpPr>
        <p:spPr>
          <a:xfrm>
            <a:off x="5704114" y="4613433"/>
            <a:ext cx="1584960" cy="8055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2B784-1AB6-B946-729A-A42A3CB38C13}"/>
              </a:ext>
            </a:extLst>
          </p:cNvPr>
          <p:cNvSpPr txBox="1"/>
          <p:nvPr/>
        </p:nvSpPr>
        <p:spPr>
          <a:xfrm>
            <a:off x="8041838" y="4857801"/>
            <a:ext cx="1545772" cy="6008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DE551-E0DA-91C6-4140-44E1A725EFD5}"/>
              </a:ext>
            </a:extLst>
          </p:cNvPr>
          <p:cNvSpPr txBox="1"/>
          <p:nvPr/>
        </p:nvSpPr>
        <p:spPr>
          <a:xfrm>
            <a:off x="7419704" y="4026659"/>
            <a:ext cx="2063930" cy="8055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DD60803-1EBD-2598-A458-8873D09A22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0623" y="555765"/>
            <a:ext cx="2516778" cy="48593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152B932-0B8C-A3F7-E1D5-D21616D61F0E}"/>
              </a:ext>
            </a:extLst>
          </p:cNvPr>
          <p:cNvSpPr txBox="1"/>
          <p:nvPr/>
        </p:nvSpPr>
        <p:spPr>
          <a:xfrm>
            <a:off x="9621388" y="5066806"/>
            <a:ext cx="2542903" cy="3744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8152CEB-0977-68BF-894F-92CDB4B74A6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11"/>
                    </a14:imgEffect>
                  </a14:imgLayer>
                </a14:imgProps>
              </a:ext>
            </a:extLst>
          </a:blip>
          <a:srcRect t="34051" r="83634" b="47939"/>
          <a:stretch/>
        </p:blipFill>
        <p:spPr>
          <a:xfrm>
            <a:off x="1084486" y="1763054"/>
            <a:ext cx="513405" cy="1417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3AF1E6-7B6C-2759-1579-9ED31D9FBCAA}"/>
              </a:ext>
            </a:extLst>
          </p:cNvPr>
          <p:cNvSpPr txBox="1"/>
          <p:nvPr/>
        </p:nvSpPr>
        <p:spPr>
          <a:xfrm>
            <a:off x="1" y="27708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1. “</a:t>
            </a:r>
            <a:r>
              <a:rPr lang="ko-KR" altLang="en-US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온라인 회원등록</a:t>
            </a:r>
            <a:r>
              <a:rPr lang="en-US" altLang="ko-KR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”</a:t>
            </a:r>
            <a:r>
              <a:rPr lang="ko-KR" altLang="en-US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 방식 </a:t>
            </a:r>
            <a:r>
              <a:rPr lang="en-US" altLang="ko-KR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(</a:t>
            </a:r>
            <a:r>
              <a:rPr lang="ko-KR" altLang="en-US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담당자가 계약 내용 등록하여 발송 → 고객 본인 인증 방식</a:t>
            </a:r>
            <a:r>
              <a:rPr lang="en-US" altLang="ko-KR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(</a:t>
            </a:r>
            <a:r>
              <a:rPr lang="ko-KR" altLang="en-US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권장</a:t>
            </a:r>
            <a:r>
              <a:rPr lang="en-US" altLang="ko-KR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))</a:t>
            </a:r>
            <a:endParaRPr lang="ko-KR" altLang="en-US" dirty="0">
              <a:solidFill>
                <a:prstClr val="white"/>
              </a:solidFill>
              <a:latin typeface="세방고딕 OTF Bold" panose="00000800000000000000" pitchFamily="50" charset="-127"/>
              <a:ea typeface="세방고딕 OTF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524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auto">
          <a:xfrm>
            <a:off x="0" y="1"/>
            <a:ext cx="10083545" cy="516467"/>
          </a:xfrm>
          <a:prstGeom prst="rect">
            <a:avLst/>
          </a:prstGeom>
          <a:solidFill>
            <a:srgbClr val="00336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0073224" y="-6"/>
            <a:ext cx="1181099" cy="516467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412D4F4-C504-4D24-A9B4-FB17B6F71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330551"/>
              </p:ext>
            </p:extLst>
          </p:nvPr>
        </p:nvGraphicFramePr>
        <p:xfrm>
          <a:off x="222728" y="5468940"/>
          <a:ext cx="11873478" cy="13909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716">
                  <a:extLst>
                    <a:ext uri="{9D8B030D-6E8A-4147-A177-3AD203B41FA5}">
                      <a16:colId xmlns:a16="http://schemas.microsoft.com/office/drawing/2014/main" val="2983515427"/>
                    </a:ext>
                  </a:extLst>
                </a:gridCol>
                <a:gridCol w="11366762">
                  <a:extLst>
                    <a:ext uri="{9D8B030D-6E8A-4147-A177-3AD203B41FA5}">
                      <a16:colId xmlns:a16="http://schemas.microsoft.com/office/drawing/2014/main" val="270596710"/>
                    </a:ext>
                  </a:extLst>
                </a:gridCol>
              </a:tblGrid>
              <a:tr h="187982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세방고딕 OTF Bold" panose="00000800000000000000" pitchFamily="50" charset="-127"/>
                          <a:ea typeface="세방고딕 OTF Bold" panose="00000800000000000000" pitchFamily="50" charset="-127"/>
                        </a:rPr>
                        <a:t>■ 화면 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015604"/>
                  </a:ext>
                </a:extLst>
              </a:tr>
              <a:tr h="135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1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상품가입신청서 확인 페이지에서 가입내용 이상 없는지 최종 확인하고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상품가입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클릭</a:t>
                      </a:r>
                      <a:endParaRPr lang="en-US" altLang="ko-KR" sz="1100" b="1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41570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2</a:t>
                      </a:r>
                    </a:p>
                    <a:p>
                      <a:pPr algn="ctr" latinLnBrk="1"/>
                      <a:endParaRPr lang="ko-KR" altLang="en-US" sz="1400" b="1" dirty="0">
                        <a:solidFill>
                          <a:schemeClr val="bg1"/>
                        </a:solidFill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최종 가입신청서 완료 하시겠습니까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?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클릭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/ HD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투어존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사원광장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회원접수 현황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 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⇒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검색하기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클릭하면 해당 계약 건 확인 가능함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⇒ 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증빙자료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보기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＂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가 생성되어 있지 않으면 고객이 계약을 완료하지 않은 상태이고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증빙자료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보기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＂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가 생성되어 있으면 고객이 계약을 완료한 상태임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. 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235674"/>
                  </a:ext>
                </a:extLst>
              </a:tr>
              <a:tr h="348923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3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   ※ 계약자에게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1800-4826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번호로 </a:t>
                      </a:r>
                      <a:r>
                        <a:rPr lang="ko-KR" altLang="en-US" sz="1100" b="1" kern="1200" dirty="0" err="1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해피콜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진행되니 꼭 전화 받으시라고 안내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계약자와 </a:t>
                      </a:r>
                      <a:r>
                        <a:rPr lang="ko-KR" altLang="en-US" sz="1100" b="1" kern="1200" dirty="0" err="1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카드주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예금주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가 다를 경우 </a:t>
                      </a:r>
                      <a:r>
                        <a:rPr lang="ko-KR" altLang="en-US" sz="1100" b="1" kern="1200" dirty="0" err="1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카드주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예금주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에게도 </a:t>
                      </a:r>
                      <a:r>
                        <a:rPr lang="ko-KR" altLang="en-US" sz="1100" b="1" kern="1200" dirty="0" err="1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해피콜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진행 안내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</a:t>
                      </a:r>
                      <a:endParaRPr lang="en-US" altLang="ko-KR" sz="1100" b="1" u="none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265681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150B86-ED45-4705-AD6B-9BAA8B6F89D2}"/>
              </a:ext>
            </a:extLst>
          </p:cNvPr>
          <p:cNvSpPr>
            <a:spLocks noChangeAspect="1"/>
          </p:cNvSpPr>
          <p:nvPr/>
        </p:nvSpPr>
        <p:spPr>
          <a:xfrm>
            <a:off x="193788" y="594697"/>
            <a:ext cx="255878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D83CC34-9366-4F47-BCFD-3D74BBE6D277}"/>
              </a:ext>
            </a:extLst>
          </p:cNvPr>
          <p:cNvSpPr>
            <a:spLocks noChangeAspect="1"/>
          </p:cNvSpPr>
          <p:nvPr/>
        </p:nvSpPr>
        <p:spPr>
          <a:xfrm>
            <a:off x="5925464" y="559492"/>
            <a:ext cx="210244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16450BB-551D-860C-F59A-BB56808A8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44" y="513806"/>
            <a:ext cx="3047047" cy="313508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9C24B7E-D3A1-94E8-D947-FBE075C35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76" y="3594749"/>
            <a:ext cx="2958887" cy="18132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7049E5-9A89-7C6D-76EB-9D32EB175A69}"/>
              </a:ext>
            </a:extLst>
          </p:cNvPr>
          <p:cNvSpPr txBox="1"/>
          <p:nvPr/>
        </p:nvSpPr>
        <p:spPr>
          <a:xfrm>
            <a:off x="556552" y="5103223"/>
            <a:ext cx="2839791" cy="3222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2A9D257-9A61-FC47-F9D2-5FEC33C5F6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4727" y="909493"/>
            <a:ext cx="2181906" cy="8715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B80FDC1-2E6A-CFF2-2428-35130976C9B7}"/>
              </a:ext>
            </a:extLst>
          </p:cNvPr>
          <p:cNvSpPr txBox="1"/>
          <p:nvPr/>
        </p:nvSpPr>
        <p:spPr>
          <a:xfrm>
            <a:off x="6885833" y="1316188"/>
            <a:ext cx="313508" cy="3091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4" name="화살표: 오른쪽 20">
            <a:extLst>
              <a:ext uri="{FF2B5EF4-FFF2-40B4-BE49-F238E27FC236}">
                <a16:creationId xmlns:a16="http://schemas.microsoft.com/office/drawing/2014/main" id="{30477857-001F-8E49-C85B-A02F2673F9C8}"/>
              </a:ext>
            </a:extLst>
          </p:cNvPr>
          <p:cNvSpPr/>
          <p:nvPr/>
        </p:nvSpPr>
        <p:spPr>
          <a:xfrm rot="5400000" flipV="1">
            <a:off x="7100476" y="1932862"/>
            <a:ext cx="365770" cy="39473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2739E2-78BD-E254-9288-8CF7FA59F48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 radius="11"/>
                    </a14:imgEffect>
                  </a14:imgLayer>
                </a14:imgProps>
              </a:ext>
            </a:extLst>
          </a:blip>
          <a:srcRect t="34051" r="83634" b="47939"/>
          <a:stretch/>
        </p:blipFill>
        <p:spPr>
          <a:xfrm>
            <a:off x="1376218" y="1672311"/>
            <a:ext cx="287120" cy="13351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33530C6-C9C4-B502-1B74-44AB6BC0C8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0183" y="2428620"/>
            <a:ext cx="8425584" cy="27616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7C5EEB-7387-12F8-FA3C-C7C92B5E4658}"/>
              </a:ext>
            </a:extLst>
          </p:cNvPr>
          <p:cNvSpPr txBox="1"/>
          <p:nvPr/>
        </p:nvSpPr>
        <p:spPr>
          <a:xfrm>
            <a:off x="7867271" y="4066244"/>
            <a:ext cx="400594" cy="2394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C95E1-803A-F21A-2169-D515E8567AE7}"/>
              </a:ext>
            </a:extLst>
          </p:cNvPr>
          <p:cNvSpPr txBox="1"/>
          <p:nvPr/>
        </p:nvSpPr>
        <p:spPr>
          <a:xfrm>
            <a:off x="11608525" y="4502332"/>
            <a:ext cx="574765" cy="641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20578-F3DF-3E56-EBDB-303CC759FF8C}"/>
              </a:ext>
            </a:extLst>
          </p:cNvPr>
          <p:cNvSpPr txBox="1"/>
          <p:nvPr/>
        </p:nvSpPr>
        <p:spPr>
          <a:xfrm>
            <a:off x="5259053" y="3764745"/>
            <a:ext cx="1228833" cy="3282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D594EE-5D48-3FD1-9B10-3EE37892487B}"/>
              </a:ext>
            </a:extLst>
          </p:cNvPr>
          <p:cNvSpPr txBox="1"/>
          <p:nvPr/>
        </p:nvSpPr>
        <p:spPr>
          <a:xfrm>
            <a:off x="1" y="27708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1. “</a:t>
            </a:r>
            <a:r>
              <a:rPr lang="ko-KR" altLang="en-US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온라인 회원등록</a:t>
            </a:r>
            <a:r>
              <a:rPr lang="en-US" altLang="ko-KR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”</a:t>
            </a:r>
            <a:r>
              <a:rPr lang="ko-KR" altLang="en-US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 방식 </a:t>
            </a:r>
            <a:r>
              <a:rPr lang="en-US" altLang="ko-KR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(</a:t>
            </a:r>
            <a:r>
              <a:rPr lang="ko-KR" altLang="en-US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담당자가 계약 내용 등록하여 발송 → 고객 본인 인증 방식</a:t>
            </a:r>
            <a:r>
              <a:rPr lang="en-US" altLang="ko-KR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(</a:t>
            </a:r>
            <a:r>
              <a:rPr lang="ko-KR" altLang="en-US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권장</a:t>
            </a:r>
            <a:r>
              <a:rPr lang="en-US" altLang="ko-KR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))</a:t>
            </a:r>
            <a:endParaRPr lang="ko-KR" altLang="en-US" dirty="0">
              <a:solidFill>
                <a:prstClr val="white"/>
              </a:solidFill>
              <a:latin typeface="세방고딕 OTF Bold" panose="00000800000000000000" pitchFamily="50" charset="-127"/>
              <a:ea typeface="세방고딕 OTF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685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auto">
          <a:xfrm>
            <a:off x="0" y="1"/>
            <a:ext cx="10083545" cy="516467"/>
          </a:xfrm>
          <a:prstGeom prst="rect">
            <a:avLst/>
          </a:prstGeom>
          <a:solidFill>
            <a:srgbClr val="00336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0073224" y="-6"/>
            <a:ext cx="1181099" cy="516467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412D4F4-C504-4D24-A9B4-FB17B6F71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050492"/>
              </p:ext>
            </p:extLst>
          </p:nvPr>
        </p:nvGraphicFramePr>
        <p:xfrm>
          <a:off x="272342" y="5342228"/>
          <a:ext cx="11873478" cy="1519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716">
                  <a:extLst>
                    <a:ext uri="{9D8B030D-6E8A-4147-A177-3AD203B41FA5}">
                      <a16:colId xmlns:a16="http://schemas.microsoft.com/office/drawing/2014/main" val="2983515427"/>
                    </a:ext>
                  </a:extLst>
                </a:gridCol>
                <a:gridCol w="11366762">
                  <a:extLst>
                    <a:ext uri="{9D8B030D-6E8A-4147-A177-3AD203B41FA5}">
                      <a16:colId xmlns:a16="http://schemas.microsoft.com/office/drawing/2014/main" val="270596710"/>
                    </a:ext>
                  </a:extLst>
                </a:gridCol>
              </a:tblGrid>
              <a:tr h="30119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세방고딕 OTF Bold" panose="00000800000000000000" pitchFamily="50" charset="-127"/>
                          <a:ea typeface="세방고딕 OTF Bold" panose="00000800000000000000" pitchFamily="50" charset="-127"/>
                        </a:rPr>
                        <a:t>■ 화면 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015604"/>
                  </a:ext>
                </a:extLst>
              </a:tr>
              <a:tr h="1611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1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HD</a:t>
                      </a: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투어존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사원광장에서 담당자 사원번호와 비밀번호 입력 후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로그인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⇒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HD</a:t>
                      </a: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투어존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인트라넷 사원광장 회원등록 메뉴에서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회원가입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링크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)”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클릭하면 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   “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주소가 복사되었습니다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＂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메시지가 생성되며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⇒ 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복사된 주소를 고객에게 카톡이나 문자 메시지에 붙여넣기 하여 발송</a:t>
                      </a:r>
                      <a:endParaRPr lang="en-US" altLang="ko-KR" sz="1200" b="1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415708"/>
                  </a:ext>
                </a:extLst>
              </a:tr>
              <a:tr h="2783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2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계약자가 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인증하기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 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 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⇒ 계약자 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통신사 선택하여 클릭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</a:t>
                      </a:r>
                      <a:endParaRPr lang="en-US" altLang="ko-KR" sz="1200" b="1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235674"/>
                  </a:ext>
                </a:extLst>
              </a:tr>
              <a:tr h="2506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3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계약자에게 알맞은 인증방법 선택하여 클릭 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⇒ 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문자인증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클릭 시 계약자 정보 입력 후 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클릭 ⇒ 문자로 받은 인증번호 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자리 입력 후 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 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</a:t>
                      </a:r>
                      <a:endParaRPr lang="en-US" altLang="ko-KR" sz="1200" b="1" u="none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265681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150B86-ED45-4705-AD6B-9BAA8B6F89D2}"/>
              </a:ext>
            </a:extLst>
          </p:cNvPr>
          <p:cNvSpPr>
            <a:spLocks noChangeAspect="1"/>
          </p:cNvSpPr>
          <p:nvPr/>
        </p:nvSpPr>
        <p:spPr>
          <a:xfrm>
            <a:off x="193788" y="594697"/>
            <a:ext cx="255878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D83CC34-9366-4F47-BCFD-3D74BBE6D277}"/>
              </a:ext>
            </a:extLst>
          </p:cNvPr>
          <p:cNvSpPr>
            <a:spLocks noChangeAspect="1"/>
          </p:cNvSpPr>
          <p:nvPr/>
        </p:nvSpPr>
        <p:spPr>
          <a:xfrm>
            <a:off x="3902707" y="559492"/>
            <a:ext cx="210244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A7938BC-B56E-9C35-77E2-C876664D00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</a:extLst>
          </a:blip>
          <a:srcRect l="1537" t="-77647" r="80967" b="149897"/>
          <a:stretch/>
        </p:blipFill>
        <p:spPr>
          <a:xfrm>
            <a:off x="4213748" y="1699491"/>
            <a:ext cx="1050979" cy="378691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FB94337A-25EC-EF36-14B6-2908C1C072FD}"/>
              </a:ext>
            </a:extLst>
          </p:cNvPr>
          <p:cNvSpPr>
            <a:spLocks noChangeAspect="1"/>
          </p:cNvSpPr>
          <p:nvPr/>
        </p:nvSpPr>
        <p:spPr>
          <a:xfrm>
            <a:off x="7876849" y="591818"/>
            <a:ext cx="210244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FE8D46-72D1-EFBD-BE29-56D7684B9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97" y="2812921"/>
            <a:ext cx="3959666" cy="24911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354ED5-C7A2-A266-3151-63F71581BEC7}"/>
              </a:ext>
            </a:extLst>
          </p:cNvPr>
          <p:cNvSpPr txBox="1"/>
          <p:nvPr/>
        </p:nvSpPr>
        <p:spPr>
          <a:xfrm>
            <a:off x="1371997" y="4121264"/>
            <a:ext cx="963748" cy="4230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33F62-E2F4-40E8-A4BA-BACBD2F200D4}"/>
              </a:ext>
            </a:extLst>
          </p:cNvPr>
          <p:cNvSpPr txBox="1"/>
          <p:nvPr/>
        </p:nvSpPr>
        <p:spPr>
          <a:xfrm>
            <a:off x="3820167" y="3651000"/>
            <a:ext cx="348343" cy="391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6FCEEB9-F952-4541-FD47-9A00A42413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</a:extLst>
          </a:blip>
          <a:srcRect l="1537" t="-77647" r="80967" b="149897"/>
          <a:stretch/>
        </p:blipFill>
        <p:spPr>
          <a:xfrm>
            <a:off x="4213748" y="1699491"/>
            <a:ext cx="1050979" cy="37869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0A42F06-198E-94EB-F3CC-3C8415DB64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0846" y="807660"/>
            <a:ext cx="3416904" cy="126682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0DF6589-2C81-C7DA-7433-5AA02E728F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2014" y="2473239"/>
            <a:ext cx="2966431" cy="280996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5A72F23-4673-FC49-B5F7-27C47453A4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3883" y="2755243"/>
            <a:ext cx="2417348" cy="2556769"/>
          </a:xfrm>
          <a:prstGeom prst="rect">
            <a:avLst/>
          </a:prstGeom>
        </p:spPr>
      </p:pic>
      <p:sp>
        <p:nvSpPr>
          <p:cNvPr id="31" name="화살표: 오른쪽 20">
            <a:extLst>
              <a:ext uri="{FF2B5EF4-FFF2-40B4-BE49-F238E27FC236}">
                <a16:creationId xmlns:a16="http://schemas.microsoft.com/office/drawing/2014/main" id="{43BF49C2-F91C-E1A9-F86A-214E22803982}"/>
              </a:ext>
            </a:extLst>
          </p:cNvPr>
          <p:cNvSpPr/>
          <p:nvPr/>
        </p:nvSpPr>
        <p:spPr>
          <a:xfrm rot="5400000" flipV="1">
            <a:off x="5578792" y="2084277"/>
            <a:ext cx="365770" cy="39473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42FAF0-507D-8263-2CCC-A3DBFA70C52A}"/>
              </a:ext>
            </a:extLst>
          </p:cNvPr>
          <p:cNvSpPr txBox="1"/>
          <p:nvPr/>
        </p:nvSpPr>
        <p:spPr>
          <a:xfrm>
            <a:off x="4188823" y="1410788"/>
            <a:ext cx="3466011" cy="60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D0DE40-161F-55A6-6501-CC881D6DA833}"/>
              </a:ext>
            </a:extLst>
          </p:cNvPr>
          <p:cNvSpPr txBox="1"/>
          <p:nvPr/>
        </p:nvSpPr>
        <p:spPr>
          <a:xfrm>
            <a:off x="5245199" y="3509164"/>
            <a:ext cx="809897" cy="7276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35" name="화살표: 오른쪽 20">
            <a:extLst>
              <a:ext uri="{FF2B5EF4-FFF2-40B4-BE49-F238E27FC236}">
                <a16:creationId xmlns:a16="http://schemas.microsoft.com/office/drawing/2014/main" id="{3BC4629D-D3DC-7B00-DB7C-F7998F2B4E2A}"/>
              </a:ext>
            </a:extLst>
          </p:cNvPr>
          <p:cNvSpPr/>
          <p:nvPr/>
        </p:nvSpPr>
        <p:spPr>
          <a:xfrm rot="5400000" flipV="1">
            <a:off x="9139500" y="2410089"/>
            <a:ext cx="271496" cy="39473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B9954B26-C69C-F3AE-2F08-B938FEEF2B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6255" y="2791232"/>
            <a:ext cx="1812477" cy="252362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0EB4298-9E65-6C89-8DDB-DA15C2B78495}"/>
              </a:ext>
            </a:extLst>
          </p:cNvPr>
          <p:cNvSpPr txBox="1"/>
          <p:nvPr/>
        </p:nvSpPr>
        <p:spPr>
          <a:xfrm>
            <a:off x="7663544" y="4985226"/>
            <a:ext cx="2333898" cy="3463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40" name="화살표: 오른쪽 20">
            <a:extLst>
              <a:ext uri="{FF2B5EF4-FFF2-40B4-BE49-F238E27FC236}">
                <a16:creationId xmlns:a16="http://schemas.microsoft.com/office/drawing/2014/main" id="{F156B59F-606A-2B9E-5B83-6B85A3E83FC2}"/>
              </a:ext>
            </a:extLst>
          </p:cNvPr>
          <p:cNvSpPr/>
          <p:nvPr/>
        </p:nvSpPr>
        <p:spPr>
          <a:xfrm rot="21368240" flipV="1">
            <a:off x="10036723" y="3935610"/>
            <a:ext cx="309191" cy="39473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484EEF-4E67-972F-1D79-9EDE5EB224AF}"/>
              </a:ext>
            </a:extLst>
          </p:cNvPr>
          <p:cNvSpPr txBox="1"/>
          <p:nvPr/>
        </p:nvSpPr>
        <p:spPr>
          <a:xfrm>
            <a:off x="11563928" y="4266321"/>
            <a:ext cx="517696" cy="5468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1DD0900A-989A-2013-6C50-9C5844A72A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1555" y="550416"/>
            <a:ext cx="3143794" cy="186185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C798C12-D211-68D3-DB27-E70A4D9515BF}"/>
              </a:ext>
            </a:extLst>
          </p:cNvPr>
          <p:cNvSpPr txBox="1"/>
          <p:nvPr/>
        </p:nvSpPr>
        <p:spPr>
          <a:xfrm>
            <a:off x="8146473" y="2024150"/>
            <a:ext cx="3084945" cy="396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F6E033A-C9C5-52DF-BD7B-6F9F391659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783" y="524311"/>
            <a:ext cx="2780144" cy="1978744"/>
          </a:xfrm>
          <a:prstGeom prst="rect">
            <a:avLst/>
          </a:prstGeom>
        </p:spPr>
      </p:pic>
      <p:sp>
        <p:nvSpPr>
          <p:cNvPr id="45" name="화살표: 오른쪽 20">
            <a:extLst>
              <a:ext uri="{FF2B5EF4-FFF2-40B4-BE49-F238E27FC236}">
                <a16:creationId xmlns:a16="http://schemas.microsoft.com/office/drawing/2014/main" id="{4C3FB3AA-FFC1-6889-A9A4-958CA99D6E76}"/>
              </a:ext>
            </a:extLst>
          </p:cNvPr>
          <p:cNvSpPr/>
          <p:nvPr/>
        </p:nvSpPr>
        <p:spPr>
          <a:xfrm rot="5400000" flipV="1">
            <a:off x="1912750" y="2408338"/>
            <a:ext cx="311932" cy="39473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334A5-F74D-A0AA-E8A4-03225E2AB6A0}"/>
              </a:ext>
            </a:extLst>
          </p:cNvPr>
          <p:cNvSpPr txBox="1"/>
          <p:nvPr/>
        </p:nvSpPr>
        <p:spPr>
          <a:xfrm>
            <a:off x="1" y="27401"/>
            <a:ext cx="1211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2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. “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회원가입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링크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)”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방식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(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담당자가 회원가입 링크 발송 → 고객 본인 인증 및 </a:t>
            </a:r>
            <a:r>
              <a:rPr lang="ko-KR" altLang="en-US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계약내용 등록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 방식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)</a:t>
            </a:r>
            <a:endParaRPr kumimoji="0" lang="ko-KR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세방고딕 OTF Bold" panose="00000800000000000000" pitchFamily="50" charset="-127"/>
              <a:ea typeface="세방고딕 OTF Bold" panose="000008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171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auto">
          <a:xfrm>
            <a:off x="0" y="1"/>
            <a:ext cx="10083545" cy="516467"/>
          </a:xfrm>
          <a:prstGeom prst="rect">
            <a:avLst/>
          </a:prstGeom>
          <a:solidFill>
            <a:srgbClr val="00336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0073224" y="-6"/>
            <a:ext cx="1181099" cy="516467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412D4F4-C504-4D24-A9B4-FB17B6F71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016763"/>
              </p:ext>
            </p:extLst>
          </p:nvPr>
        </p:nvGraphicFramePr>
        <p:xfrm>
          <a:off x="0" y="5036511"/>
          <a:ext cx="12192000" cy="18214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310">
                  <a:extLst>
                    <a:ext uri="{9D8B030D-6E8A-4147-A177-3AD203B41FA5}">
                      <a16:colId xmlns:a16="http://schemas.microsoft.com/office/drawing/2014/main" val="2983515427"/>
                    </a:ext>
                  </a:extLst>
                </a:gridCol>
                <a:gridCol w="11671690">
                  <a:extLst>
                    <a:ext uri="{9D8B030D-6E8A-4147-A177-3AD203B41FA5}">
                      <a16:colId xmlns:a16="http://schemas.microsoft.com/office/drawing/2014/main" val="270596710"/>
                    </a:ext>
                  </a:extLst>
                </a:gridCol>
              </a:tblGrid>
              <a:tr h="15523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세방고딕 OTF Bold" panose="00000800000000000000" pitchFamily="50" charset="-127"/>
                          <a:ea typeface="세방고딕 OTF Bold" panose="00000800000000000000" pitchFamily="50" charset="-127"/>
                        </a:rPr>
                        <a:t>■ 화면 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015604"/>
                  </a:ext>
                </a:extLst>
              </a:tr>
              <a:tr h="43198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1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상품가입신청서에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계약자명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생년월일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연락처는 기입되어 있음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⇒ 계약자가 나머지 사항들 입력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상품은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“VIP</a:t>
                      </a:r>
                      <a:r>
                        <a:rPr kumimoji="0" lang="ko-KR" alt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파트너스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크루즈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(2512-120)”/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이체일자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“5,10,15,20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일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중에서 선택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rgbClr val="0070C0"/>
                          </a:solidFill>
                        </a:rPr>
                        <a:t>계약자 </a:t>
                      </a:r>
                      <a:r>
                        <a:rPr lang="en-US" altLang="ko-KR" sz="11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=</a:t>
                      </a:r>
                      <a:r>
                        <a:rPr lang="ko-KR" altLang="en-US" sz="11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1100" b="1" dirty="0" err="1">
                          <a:solidFill>
                            <a:srgbClr val="0070C0"/>
                          </a:solidFill>
                        </a:rPr>
                        <a:t>카드주</a:t>
                      </a:r>
                      <a:r>
                        <a:rPr lang="en-US" altLang="ko-KR" sz="1100" b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0070C0"/>
                          </a:solidFill>
                        </a:rPr>
                        <a:t>예금주</a:t>
                      </a:r>
                      <a:r>
                        <a:rPr lang="en-US" altLang="ko-KR" sz="1100" b="1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ko-KR" altLang="en-US" sz="1100" b="1" dirty="0">
                          <a:solidFill>
                            <a:srgbClr val="0070C0"/>
                          </a:solidFill>
                        </a:rPr>
                        <a:t>인 경우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카드주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예금주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에서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본인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옆 체크박스에 체크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100" b="1" dirty="0">
                          <a:solidFill>
                            <a:srgbClr val="0070C0"/>
                          </a:solidFill>
                        </a:rPr>
                        <a:t>계약자 </a:t>
                      </a:r>
                      <a:r>
                        <a:rPr lang="ko-KR" altLang="en-US" sz="11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≠</a:t>
                      </a:r>
                      <a:r>
                        <a:rPr lang="ko-KR" altLang="en-US" sz="11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1100" b="1" dirty="0" err="1">
                          <a:solidFill>
                            <a:srgbClr val="0070C0"/>
                          </a:solidFill>
                        </a:rPr>
                        <a:t>카드주</a:t>
                      </a:r>
                      <a:r>
                        <a:rPr lang="en-US" altLang="ko-KR" sz="1100" b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0070C0"/>
                          </a:solidFill>
                        </a:rPr>
                        <a:t>예금주</a:t>
                      </a:r>
                      <a:r>
                        <a:rPr lang="en-US" altLang="ko-KR" sz="1100" b="1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ko-KR" altLang="en-US" sz="1100" b="1" dirty="0">
                          <a:solidFill>
                            <a:srgbClr val="0070C0"/>
                          </a:solidFill>
                        </a:rPr>
                        <a:t>인 경우 </a:t>
                      </a:r>
                      <a:r>
                        <a:rPr lang="ko-KR" altLang="en-US" sz="1100" b="1" dirty="0" err="1">
                          <a:solidFill>
                            <a:srgbClr val="0070C0"/>
                          </a:solidFill>
                        </a:rPr>
                        <a:t>카드주</a:t>
                      </a:r>
                      <a:r>
                        <a:rPr lang="en-US" altLang="ko-KR" sz="1100" b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0070C0"/>
                          </a:solidFill>
                        </a:rPr>
                        <a:t>예금주</a:t>
                      </a:r>
                      <a:r>
                        <a:rPr lang="en-US" altLang="ko-KR" sz="1100" b="1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ko-KR" altLang="en-US" sz="1100" b="1" dirty="0">
                          <a:solidFill>
                            <a:srgbClr val="0070C0"/>
                          </a:solidFill>
                        </a:rPr>
                        <a:t>의 결제정보 등을 입력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   결제방법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자동이체로 계좌 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입력시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 err="1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씨티은행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 err="1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유안타증권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삼성증권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불가하며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평생계좌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핸드폰번호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는 원래 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부여받은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계좌번호 입력 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  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⇒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고객님께 승인요청이 발송됩니다 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lang="en-US" altLang="ko-KR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1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415708"/>
                  </a:ext>
                </a:extLst>
              </a:tr>
              <a:tr h="20387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전자서명 및 동의정보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가지 필수사항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을 하나씩 순서대로 클릭하여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동의합니다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필수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]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옆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체크박스에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체크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하고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235674"/>
                  </a:ext>
                </a:extLst>
              </a:tr>
              <a:tr h="2765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번째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개인정보이용 및 수집동의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필수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]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에도 체크박스에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체크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하고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계약자 사인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까지 입력하여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클릭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상품약관도 클릭하여 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클릭</a:t>
                      </a:r>
                      <a:endParaRPr lang="en-US" altLang="ko-KR" sz="1100" b="1" u="none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265681"/>
                  </a:ext>
                </a:extLst>
              </a:tr>
            </a:tbl>
          </a:graphicData>
        </a:graphic>
      </p:graphicFrame>
      <p:pic>
        <p:nvPicPr>
          <p:cNvPr id="30" name="그림 29">
            <a:extLst>
              <a:ext uri="{FF2B5EF4-FFF2-40B4-BE49-F238E27FC236}">
                <a16:creationId xmlns:a16="http://schemas.microsoft.com/office/drawing/2014/main" id="{7A7938BC-B56E-9C35-77E2-C876664D00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</a:extLst>
          </a:blip>
          <a:srcRect l="1537" t="-77647" r="80967" b="149897"/>
          <a:stretch/>
        </p:blipFill>
        <p:spPr>
          <a:xfrm>
            <a:off x="4213748" y="1699491"/>
            <a:ext cx="1050979" cy="3786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8045F10-E04A-5627-FBEA-A2A4BBF66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299" y="574766"/>
            <a:ext cx="2228342" cy="445008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7CE51E-6C96-3163-E896-46B4BCD0A5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5236" y="586722"/>
            <a:ext cx="1955290" cy="451650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1E2ACCB-6AF8-41EB-182A-67964F4A32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37" y="582598"/>
            <a:ext cx="1901169" cy="44422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81B6D1-99EE-3268-15DD-F90EB1BE9E3D}"/>
              </a:ext>
            </a:extLst>
          </p:cNvPr>
          <p:cNvSpPr txBox="1"/>
          <p:nvPr/>
        </p:nvSpPr>
        <p:spPr>
          <a:xfrm>
            <a:off x="7089831" y="4246881"/>
            <a:ext cx="1461986" cy="7518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2B784-1AB6-B946-729A-A42A3CB38C13}"/>
              </a:ext>
            </a:extLst>
          </p:cNvPr>
          <p:cNvSpPr txBox="1"/>
          <p:nvPr/>
        </p:nvSpPr>
        <p:spPr>
          <a:xfrm>
            <a:off x="9118402" y="4545604"/>
            <a:ext cx="1297049" cy="4705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DE551-E0DA-91C6-4140-44E1A725EFD5}"/>
              </a:ext>
            </a:extLst>
          </p:cNvPr>
          <p:cNvSpPr txBox="1"/>
          <p:nvPr/>
        </p:nvSpPr>
        <p:spPr>
          <a:xfrm>
            <a:off x="8612248" y="3790735"/>
            <a:ext cx="1785788" cy="7115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DD60803-1EBD-2598-A458-8873D09A22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663" y="565001"/>
            <a:ext cx="1654629" cy="44598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152B932-0B8C-A3F7-E1D5-D21616D61F0E}"/>
              </a:ext>
            </a:extLst>
          </p:cNvPr>
          <p:cNvSpPr txBox="1"/>
          <p:nvPr/>
        </p:nvSpPr>
        <p:spPr>
          <a:xfrm>
            <a:off x="10493829" y="4702626"/>
            <a:ext cx="1689462" cy="3264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664544-665A-D189-E913-16E6D38804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809892"/>
            <a:ext cx="2046514" cy="422366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575DFB-33C2-3EBE-9035-44DB468BA363}"/>
              </a:ext>
            </a:extLst>
          </p:cNvPr>
          <p:cNvSpPr txBox="1"/>
          <p:nvPr/>
        </p:nvSpPr>
        <p:spPr>
          <a:xfrm>
            <a:off x="5042791" y="4493623"/>
            <a:ext cx="1514763" cy="5354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A6785E3-FF8E-969A-C33F-9A69C813FE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24913" y="539931"/>
            <a:ext cx="2272915" cy="44849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3820B2B-6621-5654-5A55-83EF9FEA4227}"/>
              </a:ext>
            </a:extLst>
          </p:cNvPr>
          <p:cNvSpPr txBox="1"/>
          <p:nvPr/>
        </p:nvSpPr>
        <p:spPr>
          <a:xfrm>
            <a:off x="2123837" y="661851"/>
            <a:ext cx="2265283" cy="32134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24EE92-D88C-3BEA-FF67-5B1A6939D6C2}"/>
              </a:ext>
            </a:extLst>
          </p:cNvPr>
          <p:cNvSpPr txBox="1"/>
          <p:nvPr/>
        </p:nvSpPr>
        <p:spPr>
          <a:xfrm>
            <a:off x="2699349" y="1437009"/>
            <a:ext cx="1524308" cy="165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898362-EC83-06D1-6384-034804463F20}"/>
              </a:ext>
            </a:extLst>
          </p:cNvPr>
          <p:cNvSpPr txBox="1"/>
          <p:nvPr/>
        </p:nvSpPr>
        <p:spPr>
          <a:xfrm>
            <a:off x="2185719" y="3143129"/>
            <a:ext cx="2125024" cy="6886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85BA0E7A-358B-3E8A-08C7-5228D63505B4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11"/>
                    </a14:imgEffect>
                  </a14:imgLayer>
                </a14:imgProps>
              </a:ext>
            </a:extLst>
          </a:blip>
          <a:srcRect t="34051" r="83634" b="47939"/>
          <a:stretch/>
        </p:blipFill>
        <p:spPr>
          <a:xfrm>
            <a:off x="592847" y="1268074"/>
            <a:ext cx="765691" cy="22968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2EA57F8-99EE-D698-A3C3-59DD2DDEB3E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11"/>
                    </a14:imgEffect>
                  </a14:imgLayer>
                </a14:imgProps>
              </a:ext>
            </a:extLst>
          </a:blip>
          <a:srcRect t="34051" r="83634" b="47939"/>
          <a:stretch/>
        </p:blipFill>
        <p:spPr>
          <a:xfrm>
            <a:off x="2774741" y="849746"/>
            <a:ext cx="850827" cy="1385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F9C4DE-72D4-D8AE-8F1C-672BE211CB0C}"/>
              </a:ext>
            </a:extLst>
          </p:cNvPr>
          <p:cNvSpPr txBox="1"/>
          <p:nvPr/>
        </p:nvSpPr>
        <p:spPr>
          <a:xfrm>
            <a:off x="2703704" y="2930526"/>
            <a:ext cx="1540142" cy="190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D8A35-119C-D8B7-8953-A1CFB4B3C1FB}"/>
              </a:ext>
            </a:extLst>
          </p:cNvPr>
          <p:cNvSpPr>
            <a:spLocks noChangeAspect="1"/>
          </p:cNvSpPr>
          <p:nvPr/>
        </p:nvSpPr>
        <p:spPr>
          <a:xfrm>
            <a:off x="115407" y="533734"/>
            <a:ext cx="255878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8BB82-5DDB-9EBC-99E9-BAAF6FE48E32}"/>
              </a:ext>
            </a:extLst>
          </p:cNvPr>
          <p:cNvSpPr txBox="1"/>
          <p:nvPr/>
        </p:nvSpPr>
        <p:spPr>
          <a:xfrm>
            <a:off x="1" y="27401"/>
            <a:ext cx="1211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2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. “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회원가입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링크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)”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방식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(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담당자가 회원가입 링크 발송 → 고객 본인 인증 및 </a:t>
            </a:r>
            <a:r>
              <a:rPr lang="ko-KR" altLang="en-US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계약내용 등록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 방식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)</a:t>
            </a:r>
            <a:endParaRPr kumimoji="0" lang="ko-KR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세방고딕 OTF Bold" panose="00000800000000000000" pitchFamily="50" charset="-127"/>
              <a:ea typeface="세방고딕 OTF Bold" panose="000008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2156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auto">
          <a:xfrm>
            <a:off x="0" y="1"/>
            <a:ext cx="10083545" cy="516467"/>
          </a:xfrm>
          <a:prstGeom prst="rect">
            <a:avLst/>
          </a:prstGeom>
          <a:solidFill>
            <a:srgbClr val="00336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0073224" y="-6"/>
            <a:ext cx="1181099" cy="516467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412D4F4-C504-4D24-A9B4-FB17B6F71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96081"/>
              </p:ext>
            </p:extLst>
          </p:nvPr>
        </p:nvGraphicFramePr>
        <p:xfrm>
          <a:off x="193963" y="5493543"/>
          <a:ext cx="11873478" cy="1357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716">
                  <a:extLst>
                    <a:ext uri="{9D8B030D-6E8A-4147-A177-3AD203B41FA5}">
                      <a16:colId xmlns:a16="http://schemas.microsoft.com/office/drawing/2014/main" val="2983515427"/>
                    </a:ext>
                  </a:extLst>
                </a:gridCol>
                <a:gridCol w="11366762">
                  <a:extLst>
                    <a:ext uri="{9D8B030D-6E8A-4147-A177-3AD203B41FA5}">
                      <a16:colId xmlns:a16="http://schemas.microsoft.com/office/drawing/2014/main" val="270596710"/>
                    </a:ext>
                  </a:extLst>
                </a:gridCol>
              </a:tblGrid>
              <a:tr h="329539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세방고딕 OTF Bold" panose="00000800000000000000" pitchFamily="50" charset="-127"/>
                          <a:ea typeface="세방고딕 OTF Bold" panose="00000800000000000000" pitchFamily="50" charset="-127"/>
                        </a:rPr>
                        <a:t>■ 화면 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015604"/>
                  </a:ext>
                </a:extLst>
              </a:tr>
              <a:tr h="242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1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상품가입신청서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”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⇒ 가입신청서 작성 하셨습니까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미리보기 화면으로 넘어갑니다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</a:t>
                      </a:r>
                      <a:endParaRPr lang="en-US" altLang="ko-KR" sz="1200" b="1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415708"/>
                  </a:ext>
                </a:extLst>
              </a:tr>
              <a:tr h="34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2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상품가입신청서 확인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상품가입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⇒ 최종 가입신청서 </a:t>
                      </a: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완료하시겠습니까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? 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1200" b="1" kern="12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</a:t>
                      </a:r>
                      <a:endParaRPr lang="en-US" altLang="ko-KR" sz="1200" b="1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235674"/>
                  </a:ext>
                </a:extLst>
              </a:tr>
              <a:tr h="348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3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HD</a:t>
                      </a: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투어존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멤버십 가입 신청이 완료되었습니다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.</a:t>
                      </a:r>
                      <a:endParaRPr lang="en-US" altLang="ko-KR" sz="1200" b="1" u="none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265681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150B86-ED45-4705-AD6B-9BAA8B6F89D2}"/>
              </a:ext>
            </a:extLst>
          </p:cNvPr>
          <p:cNvSpPr>
            <a:spLocks noChangeAspect="1"/>
          </p:cNvSpPr>
          <p:nvPr/>
        </p:nvSpPr>
        <p:spPr>
          <a:xfrm>
            <a:off x="37031" y="594697"/>
            <a:ext cx="255878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D83CC34-9366-4F47-BCFD-3D74BBE6D277}"/>
              </a:ext>
            </a:extLst>
          </p:cNvPr>
          <p:cNvSpPr>
            <a:spLocks noChangeAspect="1"/>
          </p:cNvSpPr>
          <p:nvPr/>
        </p:nvSpPr>
        <p:spPr>
          <a:xfrm>
            <a:off x="4564555" y="559492"/>
            <a:ext cx="210244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B94337A-25EC-EF36-14B6-2908C1C072FD}"/>
              </a:ext>
            </a:extLst>
          </p:cNvPr>
          <p:cNvSpPr>
            <a:spLocks noChangeAspect="1"/>
          </p:cNvSpPr>
          <p:nvPr/>
        </p:nvSpPr>
        <p:spPr>
          <a:xfrm>
            <a:off x="9270218" y="591818"/>
            <a:ext cx="210244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4E0719C-D5F8-BA8B-3AA7-03BC1C195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63" y="721228"/>
            <a:ext cx="1803511" cy="47189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3DDC57-91C2-FF86-BA69-9A3C87F49344}"/>
              </a:ext>
            </a:extLst>
          </p:cNvPr>
          <p:cNvSpPr txBox="1"/>
          <p:nvPr/>
        </p:nvSpPr>
        <p:spPr>
          <a:xfrm>
            <a:off x="260729" y="5154946"/>
            <a:ext cx="1881051" cy="2960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91DA2D0-587A-3AB7-9EDA-6A226393D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884" y="2107474"/>
            <a:ext cx="2459331" cy="98407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DA89779-2889-CD38-33E5-1D6CB44D6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550" y="513805"/>
            <a:ext cx="2090056" cy="318997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9DB6B09-08C3-AC2B-A3B1-42F170833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4022" y="3690281"/>
            <a:ext cx="2063930" cy="17961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39531A5-8AF9-BA54-1B7D-8C4BF31EE5E5}"/>
              </a:ext>
            </a:extLst>
          </p:cNvPr>
          <p:cNvSpPr txBox="1"/>
          <p:nvPr/>
        </p:nvSpPr>
        <p:spPr>
          <a:xfrm>
            <a:off x="2969624" y="2524963"/>
            <a:ext cx="418012" cy="4185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947183-FD26-55C0-7F6C-8694691CFB42}"/>
              </a:ext>
            </a:extLst>
          </p:cNvPr>
          <p:cNvSpPr txBox="1"/>
          <p:nvPr/>
        </p:nvSpPr>
        <p:spPr>
          <a:xfrm>
            <a:off x="5528884" y="5172892"/>
            <a:ext cx="1358538" cy="3053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CA7D5518-EF87-2831-F1CA-0A3B5138A5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6602" y="2151017"/>
            <a:ext cx="2172554" cy="114082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4D21BC0-8131-BEEF-E0F0-34A2CC08EA68}"/>
              </a:ext>
            </a:extLst>
          </p:cNvPr>
          <p:cNvSpPr txBox="1"/>
          <p:nvPr/>
        </p:nvSpPr>
        <p:spPr>
          <a:xfrm>
            <a:off x="7650480" y="2755729"/>
            <a:ext cx="431076" cy="2835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7C9E5E2-39C5-522C-62E2-E04016E61B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2467" y="974951"/>
            <a:ext cx="2812199" cy="187275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A8A92E7-A0AB-82F5-7EF2-E9AA98944B8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Blur radius="11"/>
                    </a14:imgEffect>
                  </a14:imgLayer>
                </a14:imgProps>
              </a:ext>
            </a:extLst>
          </a:blip>
          <a:srcRect t="34051" r="83634" b="47939"/>
          <a:stretch/>
        </p:blipFill>
        <p:spPr>
          <a:xfrm>
            <a:off x="816630" y="1025822"/>
            <a:ext cx="587297" cy="17617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EBC6210D-6273-1F93-E951-11BEB2D6F6C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Blur radius="11"/>
                    </a14:imgEffect>
                  </a14:imgLayer>
                </a14:imgProps>
              </a:ext>
            </a:extLst>
          </a:blip>
          <a:srcRect t="34051" r="83634" b="47939"/>
          <a:stretch/>
        </p:blipFill>
        <p:spPr>
          <a:xfrm>
            <a:off x="5365539" y="1880185"/>
            <a:ext cx="587297" cy="1761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5A04E8-F00E-9E80-0CDC-63E915B6D75C}"/>
              </a:ext>
            </a:extLst>
          </p:cNvPr>
          <p:cNvSpPr txBox="1"/>
          <p:nvPr/>
        </p:nvSpPr>
        <p:spPr>
          <a:xfrm>
            <a:off x="1" y="27401"/>
            <a:ext cx="1211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2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. “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회원가입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링크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)”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방식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(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담당자가 회원가입 링크 발송 → 고객 본인 인증 및 </a:t>
            </a:r>
            <a:r>
              <a:rPr lang="ko-KR" altLang="en-US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계약내용 등록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 방식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)</a:t>
            </a:r>
            <a:endParaRPr kumimoji="0" lang="ko-KR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세방고딕 OTF Bold" panose="00000800000000000000" pitchFamily="50" charset="-127"/>
              <a:ea typeface="세방고딕 OTF Bold" panose="000008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270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auto">
          <a:xfrm>
            <a:off x="0" y="1"/>
            <a:ext cx="10083545" cy="516467"/>
          </a:xfrm>
          <a:prstGeom prst="rect">
            <a:avLst/>
          </a:prstGeom>
          <a:solidFill>
            <a:srgbClr val="00336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0073224" y="-6"/>
            <a:ext cx="1181099" cy="516467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45720" rIns="54000" bIns="108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entury Gothic" pitchFamily="34" charset="0"/>
              <a:ea typeface="굴림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412D4F4-C504-4D24-A9B4-FB17B6F71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213735"/>
              </p:ext>
            </p:extLst>
          </p:nvPr>
        </p:nvGraphicFramePr>
        <p:xfrm>
          <a:off x="240145" y="5831745"/>
          <a:ext cx="11873478" cy="10163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716">
                  <a:extLst>
                    <a:ext uri="{9D8B030D-6E8A-4147-A177-3AD203B41FA5}">
                      <a16:colId xmlns:a16="http://schemas.microsoft.com/office/drawing/2014/main" val="2983515427"/>
                    </a:ext>
                  </a:extLst>
                </a:gridCol>
                <a:gridCol w="11366762">
                  <a:extLst>
                    <a:ext uri="{9D8B030D-6E8A-4147-A177-3AD203B41FA5}">
                      <a16:colId xmlns:a16="http://schemas.microsoft.com/office/drawing/2014/main" val="270596710"/>
                    </a:ext>
                  </a:extLst>
                </a:gridCol>
              </a:tblGrid>
              <a:tr h="26745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세방고딕 OTF Bold" panose="00000800000000000000" pitchFamily="50" charset="-127"/>
                          <a:ea typeface="세방고딕 OTF Bold" panose="00000800000000000000" pitchFamily="50" charset="-127"/>
                        </a:rPr>
                        <a:t>■ 화면 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015604"/>
                  </a:ext>
                </a:extLst>
              </a:tr>
              <a:tr h="28990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</a:rPr>
                        <a:t>1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○ 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HD</a:t>
                      </a:r>
                      <a:r>
                        <a:rPr kumimoji="0" lang="ko-KR" altLang="en-US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투어존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사원광장 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회원접수 현황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“  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클릭 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⇒ 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검색하기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 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클릭하면 해당 계약 건 확인 가능함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.(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고객이 계약을 완료해야만 해당 </a:t>
                      </a:r>
                      <a:r>
                        <a:rPr kumimoji="0" lang="ko-KR" altLang="en-US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계약건이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보임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.)</a:t>
                      </a:r>
                      <a:endParaRPr lang="en-US" altLang="ko-KR" sz="1200" b="1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415708"/>
                  </a:ext>
                </a:extLst>
              </a:tr>
              <a:tr h="38113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bg1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  ※ 계약자에게 </a:t>
                      </a: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1800-4826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번호로 </a:t>
                      </a:r>
                      <a:r>
                        <a:rPr kumimoji="0" lang="ko-KR" altLang="en-US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해피콜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진행되니 꼭 전화 받으시라고 안내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계약자와 </a:t>
                      </a:r>
                      <a:r>
                        <a:rPr kumimoji="0" lang="ko-KR" altLang="en-US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카드주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예금주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가 다를 경우 </a:t>
                      </a:r>
                      <a:r>
                        <a:rPr kumimoji="0" lang="ko-KR" altLang="en-US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카드주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예금주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에게도 </a:t>
                      </a:r>
                      <a:r>
                        <a:rPr kumimoji="0" lang="ko-KR" altLang="en-US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해피콜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 진행 안내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세방고딕 OTF Regular" panose="00000500000000000000" pitchFamily="50" charset="-127"/>
                          <a:ea typeface="세방고딕 OTF Regular" panose="00000500000000000000" pitchFamily="50" charset="-127"/>
                          <a:cs typeface="+mn-cs"/>
                        </a:rPr>
                        <a:t>)</a:t>
                      </a:r>
                      <a:endParaRPr lang="en-US" altLang="ko-KR" sz="1200" b="1" kern="1200" dirty="0">
                        <a:solidFill>
                          <a:srgbClr val="FF0000"/>
                        </a:solidFill>
                        <a:latin typeface="세방고딕 OTF Regular" panose="00000500000000000000" pitchFamily="50" charset="-127"/>
                        <a:ea typeface="세방고딕 OTF Regular" panose="000005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235674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150B86-ED45-4705-AD6B-9BAA8B6F89D2}"/>
              </a:ext>
            </a:extLst>
          </p:cNvPr>
          <p:cNvSpPr>
            <a:spLocks noChangeAspect="1"/>
          </p:cNvSpPr>
          <p:nvPr/>
        </p:nvSpPr>
        <p:spPr>
          <a:xfrm>
            <a:off x="193788" y="594697"/>
            <a:ext cx="255878" cy="255878"/>
          </a:xfrm>
          <a:prstGeom prst="rect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A7938BC-B56E-9C35-77E2-C876664D00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</a:extLst>
          </a:blip>
          <a:srcRect l="1537" t="-77647" r="80967" b="149897"/>
          <a:stretch/>
        </p:blipFill>
        <p:spPr>
          <a:xfrm>
            <a:off x="4213748" y="1699491"/>
            <a:ext cx="1050979" cy="3786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C02D8D8-6550-D894-05A8-B067E29B3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20" y="1000415"/>
            <a:ext cx="10917382" cy="25549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DFA9BD-275B-E2F1-E36A-D1E5165729A3}"/>
              </a:ext>
            </a:extLst>
          </p:cNvPr>
          <p:cNvSpPr txBox="1"/>
          <p:nvPr/>
        </p:nvSpPr>
        <p:spPr>
          <a:xfrm>
            <a:off x="2809966" y="2219633"/>
            <a:ext cx="1531125" cy="3296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7D202-F0EA-F1D1-C593-3C9FBAA07C40}"/>
              </a:ext>
            </a:extLst>
          </p:cNvPr>
          <p:cNvSpPr txBox="1"/>
          <p:nvPr/>
        </p:nvSpPr>
        <p:spPr>
          <a:xfrm>
            <a:off x="6078579" y="2512427"/>
            <a:ext cx="627021" cy="221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44764-7F4C-A8C8-99EB-177131BBD2CD}"/>
              </a:ext>
            </a:extLst>
          </p:cNvPr>
          <p:cNvSpPr txBox="1"/>
          <p:nvPr/>
        </p:nvSpPr>
        <p:spPr>
          <a:xfrm>
            <a:off x="1764145" y="3185887"/>
            <a:ext cx="9790546" cy="3744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78D945-5A8F-6CDC-E184-A1612E538A4C}"/>
              </a:ext>
            </a:extLst>
          </p:cNvPr>
          <p:cNvSpPr txBox="1"/>
          <p:nvPr/>
        </p:nvSpPr>
        <p:spPr>
          <a:xfrm>
            <a:off x="1" y="27401"/>
            <a:ext cx="12110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2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. “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회원가입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링크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)”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방식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(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담당자가 회원가입 링크 발송 → 고객 본인 인증 및 </a:t>
            </a:r>
            <a:r>
              <a:rPr lang="ko-KR" altLang="en-US" b="1" dirty="0">
                <a:solidFill>
                  <a:prstClr val="white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rPr>
              <a:t>계약내용 등록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 방식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OTF Bold" panose="00000800000000000000" pitchFamily="50" charset="-127"/>
                <a:ea typeface="세방고딕 OTF Bold" panose="00000800000000000000" pitchFamily="50" charset="-127"/>
                <a:cs typeface="+mn-cs"/>
              </a:rPr>
              <a:t>)</a:t>
            </a:r>
            <a:endParaRPr kumimoji="0" lang="ko-KR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세방고딕 OTF Bold" panose="00000800000000000000" pitchFamily="50" charset="-127"/>
              <a:ea typeface="세방고딕 OTF Bold" panose="000008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8972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DE08A9E-7072-631B-1D07-CA330D242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0"/>
            <a:ext cx="107973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25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13049</TotalTime>
  <Words>992</Words>
  <Application>Microsoft Office PowerPoint</Application>
  <PresentationFormat>와이드스크린</PresentationFormat>
  <Paragraphs>104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맑은 고딕</vt:lpstr>
      <vt:lpstr>바탕</vt:lpstr>
      <vt:lpstr>세방고딕 OTF Bold</vt:lpstr>
      <vt:lpstr>세방고딕 OTF Regular</vt:lpstr>
      <vt:lpstr>세방고딕 Regular</vt:lpstr>
      <vt:lpstr>Arial</vt:lpstr>
      <vt:lpstr>Century Gothic</vt:lpstr>
      <vt:lpstr>Office 테마</vt:lpstr>
      <vt:lpstr>1_Office 테마</vt:lpstr>
      <vt:lpstr>2_Office 테마</vt:lpstr>
      <vt:lpstr>PowerPoint 프레젠테이션</vt:lpstr>
      <vt:lpstr>PowerPoint 프레젠테이션</vt:lpstr>
      <vt:lpstr>&lt;계약자 = 카드주(예금주)일때&gt;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종연 이</dc:creator>
  <cp:lastModifiedBy>종연 이</cp:lastModifiedBy>
  <cp:revision>33</cp:revision>
  <cp:lastPrinted>2026-07-30T04:25:43Z</cp:lastPrinted>
  <dcterms:created xsi:type="dcterms:W3CDTF">2026-07-23T23:46:09Z</dcterms:created>
  <dcterms:modified xsi:type="dcterms:W3CDTF">2026-09-07T05:44:05Z</dcterms:modified>
</cp:coreProperties>
</file>